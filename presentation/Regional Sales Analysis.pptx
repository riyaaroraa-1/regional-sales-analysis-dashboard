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64" r:id="rId2"/>
    <p:sldId id="269" r:id="rId3"/>
    <p:sldId id="265" r:id="rId4"/>
    <p:sldId id="284" r:id="rId5"/>
    <p:sldId id="274" r:id="rId6"/>
    <p:sldId id="275" r:id="rId7"/>
    <p:sldId id="276" r:id="rId8"/>
    <p:sldId id="283" r:id="rId9"/>
    <p:sldId id="278" r:id="rId10"/>
    <p:sldId id="277" r:id="rId11"/>
    <p:sldId id="279" r:id="rId12"/>
    <p:sldId id="280" r:id="rId13"/>
    <p:sldId id="282" r:id="rId14"/>
    <p:sldId id="281" r:id="rId15"/>
    <p:sldId id="263" r:id="rId16"/>
    <p:sldId id="270" r:id="rId17"/>
    <p:sldId id="261" r:id="rId18"/>
    <p:sldId id="271" r:id="rId19"/>
    <p:sldId id="260" r:id="rId20"/>
    <p:sldId id="257" r:id="rId21"/>
    <p:sldId id="258" r:id="rId22"/>
    <p:sldId id="259" r:id="rId23"/>
    <p:sldId id="267" r:id="rId24"/>
    <p:sldId id="273" r:id="rId25"/>
    <p:sldId id="28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04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CA5DD5-AFE9-45EB-94F4-8F7888BE45F9}" v="1" dt="2026-04-11T15:48:43.6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ay arora" userId="35fb28de15c0b5d6" providerId="LiveId" clId="{96852303-780D-481B-8958-CC4E7849B629}"/>
    <pc:docChg chg="modSld">
      <pc:chgData name="lakshay arora" userId="35fb28de15c0b5d6" providerId="LiveId" clId="{96852303-780D-481B-8958-CC4E7849B629}" dt="2026-04-11T15:49:12.290" v="5" actId="255"/>
      <pc:docMkLst>
        <pc:docMk/>
      </pc:docMkLst>
      <pc:sldChg chg="modSp mod">
        <pc:chgData name="lakshay arora" userId="35fb28de15c0b5d6" providerId="LiveId" clId="{96852303-780D-481B-8958-CC4E7849B629}" dt="2026-04-11T15:49:12.290" v="5" actId="255"/>
        <pc:sldMkLst>
          <pc:docMk/>
          <pc:sldMk cId="3240530208" sldId="273"/>
        </pc:sldMkLst>
        <pc:spChg chg="mod">
          <ac:chgData name="lakshay arora" userId="35fb28de15c0b5d6" providerId="LiveId" clId="{96852303-780D-481B-8958-CC4E7849B629}" dt="2026-04-11T15:49:00.691" v="4" actId="14100"/>
          <ac:spMkLst>
            <pc:docMk/>
            <pc:sldMk cId="3240530208" sldId="273"/>
            <ac:spMk id="2" creationId="{1C0DC502-2D87-CD07-880B-840E1449B47A}"/>
          </ac:spMkLst>
        </pc:spChg>
        <pc:spChg chg="mod">
          <ac:chgData name="lakshay arora" userId="35fb28de15c0b5d6" providerId="LiveId" clId="{96852303-780D-481B-8958-CC4E7849B629}" dt="2026-04-11T15:49:12.290" v="5" actId="255"/>
          <ac:spMkLst>
            <pc:docMk/>
            <pc:sldMk cId="3240530208" sldId="273"/>
            <ac:spMk id="3" creationId="{726D0F8E-D455-A24D-73D2-9A5A2E1F520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61A900-11C4-38D1-07DF-7153C66C10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1AC5D2E-CDF6-EDE9-344D-D8FB4645E9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192B10-0BC9-4805-93F8-6F96093061A9}" type="datetimeFigureOut">
              <a:rPr lang="en-IN" smtClean="0"/>
              <a:t>11-04-2026</a:t>
            </a:fld>
            <a:endParaRPr lang="en-IN"/>
          </a:p>
        </p:txBody>
      </p:sp>
      <p:sp>
        <p:nvSpPr>
          <p:cNvPr id="4" name="Footer Placeholder 3">
            <a:extLst>
              <a:ext uri="{FF2B5EF4-FFF2-40B4-BE49-F238E27FC236}">
                <a16:creationId xmlns:a16="http://schemas.microsoft.com/office/drawing/2014/main" id="{6D55887F-B9BF-0A2E-B897-61BCD831BB2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95571A0-5E14-8AE5-25E8-0A244E0EA4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B605D5C-7D77-4E5D-9F77-121E0B05D327}" type="slidenum">
              <a:rPr lang="en-IN" smtClean="0"/>
              <a:t>‹#›</a:t>
            </a:fld>
            <a:endParaRPr lang="en-IN"/>
          </a:p>
        </p:txBody>
      </p:sp>
    </p:spTree>
    <p:extLst>
      <p:ext uri="{BB962C8B-B14F-4D97-AF65-F5344CB8AC3E}">
        <p14:creationId xmlns:p14="http://schemas.microsoft.com/office/powerpoint/2010/main" val="164057253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46895F-F2DB-4C3F-B2EA-E669E2901263}" type="datetimeFigureOut">
              <a:rPr lang="en-IN" smtClean="0"/>
              <a:t>11-04-2026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78011D-0EF7-4B78-AE40-EB7E5CEC5E67}" type="slidenum">
              <a:rPr lang="en-IN" smtClean="0"/>
              <a:t>‹#›</a:t>
            </a:fld>
            <a:endParaRPr lang="en-IN"/>
          </a:p>
        </p:txBody>
      </p:sp>
    </p:spTree>
    <p:extLst>
      <p:ext uri="{BB962C8B-B14F-4D97-AF65-F5344CB8AC3E}">
        <p14:creationId xmlns:p14="http://schemas.microsoft.com/office/powerpoint/2010/main" val="307334450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279E3-2A91-CC69-59F7-ECBEAD504B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EEA3EE-74CB-16BF-996E-26161DAEA9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6DE0F7-10E6-6E06-13D2-C21A0CDE3E62}"/>
              </a:ext>
            </a:extLst>
          </p:cNvPr>
          <p:cNvSpPr>
            <a:spLocks noGrp="1"/>
          </p:cNvSpPr>
          <p:nvPr>
            <p:ph type="dt" sz="half" idx="10"/>
          </p:nvPr>
        </p:nvSpPr>
        <p:spPr/>
        <p:txBody>
          <a:bodyPr/>
          <a:lstStyle/>
          <a:p>
            <a:fld id="{CE9ADE02-7D40-45A4-8135-0E30925269F9}" type="datetime1">
              <a:rPr lang="en-IN" smtClean="0"/>
              <a:t>11-04-2026</a:t>
            </a:fld>
            <a:endParaRPr lang="en-IN"/>
          </a:p>
        </p:txBody>
      </p:sp>
      <p:sp>
        <p:nvSpPr>
          <p:cNvPr id="5" name="Footer Placeholder 4">
            <a:extLst>
              <a:ext uri="{FF2B5EF4-FFF2-40B4-BE49-F238E27FC236}">
                <a16:creationId xmlns:a16="http://schemas.microsoft.com/office/drawing/2014/main" id="{0B12E594-EBE8-C3E0-AB9E-D5B393063D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37FEC3-75AE-6BEC-B389-7DE26740A767}"/>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4096012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D7A3-46DF-CBDA-5CDC-9579833141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2A7097-7A8A-9EC9-6CEA-7F002FEB3D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2AFC7C-62AB-B759-1226-C11A3A2EC02B}"/>
              </a:ext>
            </a:extLst>
          </p:cNvPr>
          <p:cNvSpPr>
            <a:spLocks noGrp="1"/>
          </p:cNvSpPr>
          <p:nvPr>
            <p:ph type="dt" sz="half" idx="10"/>
          </p:nvPr>
        </p:nvSpPr>
        <p:spPr/>
        <p:txBody>
          <a:bodyPr/>
          <a:lstStyle/>
          <a:p>
            <a:fld id="{98E75482-F43E-43C7-8BAA-D6ED47711F3E}" type="datetime1">
              <a:rPr lang="en-IN" smtClean="0"/>
              <a:t>11-04-2026</a:t>
            </a:fld>
            <a:endParaRPr lang="en-IN"/>
          </a:p>
        </p:txBody>
      </p:sp>
      <p:sp>
        <p:nvSpPr>
          <p:cNvPr id="5" name="Footer Placeholder 4">
            <a:extLst>
              <a:ext uri="{FF2B5EF4-FFF2-40B4-BE49-F238E27FC236}">
                <a16:creationId xmlns:a16="http://schemas.microsoft.com/office/drawing/2014/main" id="{114E8663-6CDA-9872-A65C-4225FACD99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52080D-7399-F1DE-17CB-F5FBF6FC1AE0}"/>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339491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C800D-B45A-564D-5723-75233F9DF3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C877749-55EC-B7E1-3650-8B239B4C2B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EC1DA4-3381-048B-7BFB-613DF077617C}"/>
              </a:ext>
            </a:extLst>
          </p:cNvPr>
          <p:cNvSpPr>
            <a:spLocks noGrp="1"/>
          </p:cNvSpPr>
          <p:nvPr>
            <p:ph type="dt" sz="half" idx="10"/>
          </p:nvPr>
        </p:nvSpPr>
        <p:spPr/>
        <p:txBody>
          <a:bodyPr/>
          <a:lstStyle/>
          <a:p>
            <a:fld id="{B2EF8EAF-5842-46FA-BA6B-CC4D0768729B}" type="datetime1">
              <a:rPr lang="en-IN" smtClean="0"/>
              <a:t>11-04-2026</a:t>
            </a:fld>
            <a:endParaRPr lang="en-IN"/>
          </a:p>
        </p:txBody>
      </p:sp>
      <p:sp>
        <p:nvSpPr>
          <p:cNvPr id="5" name="Footer Placeholder 4">
            <a:extLst>
              <a:ext uri="{FF2B5EF4-FFF2-40B4-BE49-F238E27FC236}">
                <a16:creationId xmlns:a16="http://schemas.microsoft.com/office/drawing/2014/main" id="{8B7BC316-1294-6B1F-CBED-024518ABC3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8F8CCF-7239-5AF2-0A9B-4ED7282FCE0B}"/>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424752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FE0D3-AFE9-2854-A78D-823C4BE2BA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321934-1D74-7A0A-000E-24C24A4767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23C40EE-7497-AE90-9026-7FFB57D751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D1B6B8-76D2-2855-3D0F-AB57DDCA7D63}"/>
              </a:ext>
            </a:extLst>
          </p:cNvPr>
          <p:cNvSpPr>
            <a:spLocks noGrp="1"/>
          </p:cNvSpPr>
          <p:nvPr>
            <p:ph type="dt" sz="half" idx="10"/>
          </p:nvPr>
        </p:nvSpPr>
        <p:spPr/>
        <p:txBody>
          <a:bodyPr/>
          <a:lstStyle/>
          <a:p>
            <a:fld id="{1E0E8604-CC80-4073-8D1A-8EF921128E72}" type="datetime1">
              <a:rPr lang="en-IN" smtClean="0"/>
              <a:t>11-04-2026</a:t>
            </a:fld>
            <a:endParaRPr lang="en-IN"/>
          </a:p>
        </p:txBody>
      </p:sp>
      <p:sp>
        <p:nvSpPr>
          <p:cNvPr id="6" name="Footer Placeholder 5">
            <a:extLst>
              <a:ext uri="{FF2B5EF4-FFF2-40B4-BE49-F238E27FC236}">
                <a16:creationId xmlns:a16="http://schemas.microsoft.com/office/drawing/2014/main" id="{1E089C8F-B26D-7FF9-1809-5A46B0D3C3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C22F70-2468-F40E-378D-3724E959478D}"/>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1942284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6BAB7-61C5-886C-62C5-9A16A464D9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268712-0C15-E5C7-1E93-0507A07762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438EC8-BD75-E2C3-215D-07131002F4B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D831D4E-3F89-CFFF-1BB9-620D0C62D2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BE039A-EEC0-4119-DD2A-C4369C9577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D7CD7E-9CBB-2C20-952A-CF8DB3207CF2}"/>
              </a:ext>
            </a:extLst>
          </p:cNvPr>
          <p:cNvSpPr>
            <a:spLocks noGrp="1"/>
          </p:cNvSpPr>
          <p:nvPr>
            <p:ph type="dt" sz="half" idx="10"/>
          </p:nvPr>
        </p:nvSpPr>
        <p:spPr/>
        <p:txBody>
          <a:bodyPr/>
          <a:lstStyle/>
          <a:p>
            <a:fld id="{FFF13FE5-D581-4436-914C-78E6A8890700}" type="datetime1">
              <a:rPr lang="en-IN" smtClean="0"/>
              <a:t>11-04-2026</a:t>
            </a:fld>
            <a:endParaRPr lang="en-IN"/>
          </a:p>
        </p:txBody>
      </p:sp>
      <p:sp>
        <p:nvSpPr>
          <p:cNvPr id="8" name="Footer Placeholder 7">
            <a:extLst>
              <a:ext uri="{FF2B5EF4-FFF2-40B4-BE49-F238E27FC236}">
                <a16:creationId xmlns:a16="http://schemas.microsoft.com/office/drawing/2014/main" id="{1AD331C2-A119-72D1-6E33-A1C59D0E97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EDA2BF-95E5-A1CD-67EB-D4409A7ACF42}"/>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2562773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49150-64EA-3FBE-DA7D-247A4D68FB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023324A-426A-D1A7-B9CF-72A86B5F2ADC}"/>
              </a:ext>
            </a:extLst>
          </p:cNvPr>
          <p:cNvSpPr>
            <a:spLocks noGrp="1"/>
          </p:cNvSpPr>
          <p:nvPr>
            <p:ph type="dt" sz="half" idx="10"/>
          </p:nvPr>
        </p:nvSpPr>
        <p:spPr/>
        <p:txBody>
          <a:bodyPr/>
          <a:lstStyle/>
          <a:p>
            <a:fld id="{F27DBBFC-9420-4830-87DE-D95096D12E3D}" type="datetime1">
              <a:rPr lang="en-IN" smtClean="0"/>
              <a:t>11-04-2026</a:t>
            </a:fld>
            <a:endParaRPr lang="en-IN"/>
          </a:p>
        </p:txBody>
      </p:sp>
      <p:sp>
        <p:nvSpPr>
          <p:cNvPr id="4" name="Footer Placeholder 3">
            <a:extLst>
              <a:ext uri="{FF2B5EF4-FFF2-40B4-BE49-F238E27FC236}">
                <a16:creationId xmlns:a16="http://schemas.microsoft.com/office/drawing/2014/main" id="{F07E9DC4-13E3-58F8-CEFA-FF8DB8BFF3E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989B075-8472-CB3B-CF23-5F9016E193AF}"/>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3685492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1E21A7-D0BA-E0DB-0BD9-C4687A0B8425}"/>
              </a:ext>
            </a:extLst>
          </p:cNvPr>
          <p:cNvSpPr>
            <a:spLocks noGrp="1"/>
          </p:cNvSpPr>
          <p:nvPr>
            <p:ph type="dt" sz="half" idx="10"/>
          </p:nvPr>
        </p:nvSpPr>
        <p:spPr/>
        <p:txBody>
          <a:bodyPr/>
          <a:lstStyle/>
          <a:p>
            <a:fld id="{E5597279-9EAF-4584-813B-E7ECFF51DA34}" type="datetime1">
              <a:rPr lang="en-IN" smtClean="0"/>
              <a:t>11-04-2026</a:t>
            </a:fld>
            <a:endParaRPr lang="en-IN"/>
          </a:p>
        </p:txBody>
      </p:sp>
      <p:sp>
        <p:nvSpPr>
          <p:cNvPr id="3" name="Footer Placeholder 2">
            <a:extLst>
              <a:ext uri="{FF2B5EF4-FFF2-40B4-BE49-F238E27FC236}">
                <a16:creationId xmlns:a16="http://schemas.microsoft.com/office/drawing/2014/main" id="{A52246EF-20B2-A6AC-7A9A-D9129E9722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8D325D-BA8C-D0D8-3EC0-C77EA4C3FE5F}"/>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3613429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4A9D1-9C45-FF11-A3CA-E6DE95D3D2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5A11F72-9530-87D6-0D2C-04DF69565C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788ACE9-D673-EAFE-8101-65CBA144F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730CF7-023A-A775-27ED-B9CB5412E06E}"/>
              </a:ext>
            </a:extLst>
          </p:cNvPr>
          <p:cNvSpPr>
            <a:spLocks noGrp="1"/>
          </p:cNvSpPr>
          <p:nvPr>
            <p:ph type="dt" sz="half" idx="10"/>
          </p:nvPr>
        </p:nvSpPr>
        <p:spPr/>
        <p:txBody>
          <a:bodyPr/>
          <a:lstStyle/>
          <a:p>
            <a:fld id="{D83DE708-3C3D-4CBF-BE6D-72A011C561BD}" type="datetime1">
              <a:rPr lang="en-IN" smtClean="0"/>
              <a:t>11-04-2026</a:t>
            </a:fld>
            <a:endParaRPr lang="en-IN"/>
          </a:p>
        </p:txBody>
      </p:sp>
      <p:sp>
        <p:nvSpPr>
          <p:cNvPr id="6" name="Footer Placeholder 5">
            <a:extLst>
              <a:ext uri="{FF2B5EF4-FFF2-40B4-BE49-F238E27FC236}">
                <a16:creationId xmlns:a16="http://schemas.microsoft.com/office/drawing/2014/main" id="{B0140D0E-88E8-7F73-1F2E-0B5825BEF5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2F02FD-AE48-A600-7BF4-71677A73B31E}"/>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2039150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08CC2-A4BD-5601-1B25-35433F6BFA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85DE9F-0187-372D-74FA-BC24FE355A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24A9C4-E42B-6C8B-447F-CED916EC95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497BB2-5AD1-C612-1E3F-ADBA52F70E56}"/>
              </a:ext>
            </a:extLst>
          </p:cNvPr>
          <p:cNvSpPr>
            <a:spLocks noGrp="1"/>
          </p:cNvSpPr>
          <p:nvPr>
            <p:ph type="dt" sz="half" idx="10"/>
          </p:nvPr>
        </p:nvSpPr>
        <p:spPr/>
        <p:txBody>
          <a:bodyPr/>
          <a:lstStyle/>
          <a:p>
            <a:fld id="{59B44CA0-5446-4D9E-A32F-B60883074369}" type="datetime1">
              <a:rPr lang="en-IN" smtClean="0"/>
              <a:t>11-04-2026</a:t>
            </a:fld>
            <a:endParaRPr lang="en-IN"/>
          </a:p>
        </p:txBody>
      </p:sp>
      <p:sp>
        <p:nvSpPr>
          <p:cNvPr id="6" name="Footer Placeholder 5">
            <a:extLst>
              <a:ext uri="{FF2B5EF4-FFF2-40B4-BE49-F238E27FC236}">
                <a16:creationId xmlns:a16="http://schemas.microsoft.com/office/drawing/2014/main" id="{A5792BDF-510C-3881-0C42-75C031B041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AEFCB8-9EE5-3EA3-DDEB-25E222021B7B}"/>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546136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97F21-B4E7-E6C6-AC5A-62518A430D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CDE9EB-988E-0A58-6BA6-30734E8AA2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4DF8F1-2D57-E2CB-EB20-4774FA298819}"/>
              </a:ext>
            </a:extLst>
          </p:cNvPr>
          <p:cNvSpPr>
            <a:spLocks noGrp="1"/>
          </p:cNvSpPr>
          <p:nvPr>
            <p:ph type="dt" sz="half" idx="10"/>
          </p:nvPr>
        </p:nvSpPr>
        <p:spPr/>
        <p:txBody>
          <a:bodyPr/>
          <a:lstStyle/>
          <a:p>
            <a:fld id="{DA5378F8-4408-4048-B96A-7446193E5A75}" type="datetime1">
              <a:rPr lang="en-IN" smtClean="0"/>
              <a:t>11-04-2026</a:t>
            </a:fld>
            <a:endParaRPr lang="en-IN"/>
          </a:p>
        </p:txBody>
      </p:sp>
      <p:sp>
        <p:nvSpPr>
          <p:cNvPr id="5" name="Footer Placeholder 4">
            <a:extLst>
              <a:ext uri="{FF2B5EF4-FFF2-40B4-BE49-F238E27FC236}">
                <a16:creationId xmlns:a16="http://schemas.microsoft.com/office/drawing/2014/main" id="{C6538259-0CB1-4379-16F0-C6E8814BAC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B6C230-A478-5F3B-6654-57E12DC5B662}"/>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4077095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5968A4-16F6-9C08-50BC-588FE55A8A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3E0103-FE5B-910A-3E69-62FACDCEF4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3C1D1B-1671-8FFB-C84F-5370D39A8A60}"/>
              </a:ext>
            </a:extLst>
          </p:cNvPr>
          <p:cNvSpPr>
            <a:spLocks noGrp="1"/>
          </p:cNvSpPr>
          <p:nvPr>
            <p:ph type="dt" sz="half" idx="10"/>
          </p:nvPr>
        </p:nvSpPr>
        <p:spPr/>
        <p:txBody>
          <a:bodyPr/>
          <a:lstStyle/>
          <a:p>
            <a:fld id="{053FB764-A33A-4EDD-8001-6FFD6E89349A}" type="datetime1">
              <a:rPr lang="en-IN" smtClean="0"/>
              <a:t>11-04-2026</a:t>
            </a:fld>
            <a:endParaRPr lang="en-IN"/>
          </a:p>
        </p:txBody>
      </p:sp>
      <p:sp>
        <p:nvSpPr>
          <p:cNvPr id="5" name="Footer Placeholder 4">
            <a:extLst>
              <a:ext uri="{FF2B5EF4-FFF2-40B4-BE49-F238E27FC236}">
                <a16:creationId xmlns:a16="http://schemas.microsoft.com/office/drawing/2014/main" id="{870EC8E2-4855-93DE-505D-EF25D85B74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328D48-4DF9-614B-6670-9F33ADE5EAEB}"/>
              </a:ext>
            </a:extLst>
          </p:cNvPr>
          <p:cNvSpPr>
            <a:spLocks noGrp="1"/>
          </p:cNvSpPr>
          <p:nvPr>
            <p:ph type="sldNum" sz="quarter" idx="12"/>
          </p:nvPr>
        </p:nvSpPr>
        <p:spPr/>
        <p:txBody>
          <a:bodyPr/>
          <a:lstStyle/>
          <a:p>
            <a:fld id="{4E3936FF-9C8C-4CFF-8FF1-ABF36B4C597A}" type="slidenum">
              <a:rPr lang="en-IN" smtClean="0"/>
              <a:t>‹#›</a:t>
            </a:fld>
            <a:endParaRPr lang="en-IN"/>
          </a:p>
        </p:txBody>
      </p:sp>
    </p:spTree>
    <p:extLst>
      <p:ext uri="{BB962C8B-B14F-4D97-AF65-F5344CB8AC3E}">
        <p14:creationId xmlns:p14="http://schemas.microsoft.com/office/powerpoint/2010/main" val="3634332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CA79D0-97C5-D3F3-E55B-9CA4281E88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53102B-CA42-F008-EA41-1BD09C81BB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C797B5-027A-93AC-F51E-E2F2BBC91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7588EE-015A-4D9E-9FE2-E789489BCAFC}" type="datetime1">
              <a:rPr lang="en-IN" smtClean="0"/>
              <a:t>11-04-2026</a:t>
            </a:fld>
            <a:endParaRPr lang="en-IN"/>
          </a:p>
        </p:txBody>
      </p:sp>
      <p:sp>
        <p:nvSpPr>
          <p:cNvPr id="5" name="Footer Placeholder 4">
            <a:extLst>
              <a:ext uri="{FF2B5EF4-FFF2-40B4-BE49-F238E27FC236}">
                <a16:creationId xmlns:a16="http://schemas.microsoft.com/office/drawing/2014/main" id="{AAF27BCA-87D6-5374-04FB-A9C44D6797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AFBD75E-2ADD-847A-0357-359149986B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3936FF-9C8C-4CFF-8FF1-ABF36B4C597A}" type="slidenum">
              <a:rPr lang="en-IN" smtClean="0"/>
              <a:t>‹#›</a:t>
            </a:fld>
            <a:endParaRPr lang="en-IN"/>
          </a:p>
        </p:txBody>
      </p:sp>
    </p:spTree>
    <p:extLst>
      <p:ext uri="{BB962C8B-B14F-4D97-AF65-F5344CB8AC3E}">
        <p14:creationId xmlns:p14="http://schemas.microsoft.com/office/powerpoint/2010/main" val="2044589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6F09-9C01-54D2-2993-CFC97F2EA45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E2F7C4F-9603-409A-4EFF-08C05315A6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15"/>
            <a:ext cx="12192000" cy="6907161"/>
          </a:xfrm>
          <a:prstGeom prst="rect">
            <a:avLst/>
          </a:prstGeom>
        </p:spPr>
      </p:pic>
      <p:sp>
        <p:nvSpPr>
          <p:cNvPr id="4" name="TextBox 3">
            <a:extLst>
              <a:ext uri="{FF2B5EF4-FFF2-40B4-BE49-F238E27FC236}">
                <a16:creationId xmlns:a16="http://schemas.microsoft.com/office/drawing/2014/main" id="{36B7C79E-DD4D-D782-969A-78A9522CB2E4}"/>
              </a:ext>
            </a:extLst>
          </p:cNvPr>
          <p:cNvSpPr txBox="1"/>
          <p:nvPr/>
        </p:nvSpPr>
        <p:spPr>
          <a:xfrm>
            <a:off x="1740309" y="2576051"/>
            <a:ext cx="8337756" cy="1138773"/>
          </a:xfrm>
          <a:prstGeom prst="rect">
            <a:avLst/>
          </a:prstGeom>
          <a:noFill/>
        </p:spPr>
        <p:txBody>
          <a:bodyPr wrap="square" rtlCol="0">
            <a:spAutoFit/>
          </a:bodyPr>
          <a:lstStyle/>
          <a:p>
            <a:pPr algn="ctr"/>
            <a:r>
              <a:rPr lang="en-US" sz="5400" b="1" dirty="0"/>
              <a:t>Regional Sales Analysis</a:t>
            </a:r>
          </a:p>
          <a:p>
            <a:pPr algn="ctr"/>
            <a:r>
              <a:rPr lang="en-US" sz="1400" b="1" dirty="0"/>
              <a:t>(Using Python-EDA &amp; Power BI)</a:t>
            </a:r>
            <a:endParaRPr lang="en-IN" sz="1400" b="1" dirty="0"/>
          </a:p>
        </p:txBody>
      </p:sp>
      <p:sp>
        <p:nvSpPr>
          <p:cNvPr id="2" name="TextBox 1">
            <a:extLst>
              <a:ext uri="{FF2B5EF4-FFF2-40B4-BE49-F238E27FC236}">
                <a16:creationId xmlns:a16="http://schemas.microsoft.com/office/drawing/2014/main" id="{3BC32C05-7595-4A33-62C5-1D34890F636C}"/>
              </a:ext>
            </a:extLst>
          </p:cNvPr>
          <p:cNvSpPr txBox="1"/>
          <p:nvPr/>
        </p:nvSpPr>
        <p:spPr>
          <a:xfrm>
            <a:off x="9910916" y="5270090"/>
            <a:ext cx="2379407" cy="461665"/>
          </a:xfrm>
          <a:prstGeom prst="rect">
            <a:avLst/>
          </a:prstGeom>
          <a:noFill/>
        </p:spPr>
        <p:txBody>
          <a:bodyPr wrap="square" rtlCol="0">
            <a:spAutoFit/>
          </a:bodyPr>
          <a:lstStyle/>
          <a:p>
            <a:r>
              <a:rPr lang="en-US" sz="2400" b="1" dirty="0"/>
              <a:t>- Riya Arora</a:t>
            </a:r>
            <a:endParaRPr lang="en-IN" sz="2400" b="1" dirty="0"/>
          </a:p>
        </p:txBody>
      </p:sp>
      <p:sp>
        <p:nvSpPr>
          <p:cNvPr id="9" name="Slide Number Placeholder 8">
            <a:extLst>
              <a:ext uri="{FF2B5EF4-FFF2-40B4-BE49-F238E27FC236}">
                <a16:creationId xmlns:a16="http://schemas.microsoft.com/office/drawing/2014/main" id="{05562BDB-4E28-B729-E916-FEA534C2B466}"/>
              </a:ext>
            </a:extLst>
          </p:cNvPr>
          <p:cNvSpPr>
            <a:spLocks noGrp="1"/>
          </p:cNvSpPr>
          <p:nvPr>
            <p:ph type="sldNum" sz="quarter" idx="12"/>
          </p:nvPr>
        </p:nvSpPr>
        <p:spPr>
          <a:xfrm>
            <a:off x="9338187" y="6546951"/>
            <a:ext cx="2743200" cy="365125"/>
          </a:xfrm>
        </p:spPr>
        <p:txBody>
          <a:bodyPr/>
          <a:lstStyle/>
          <a:p>
            <a:fld id="{4E3936FF-9C8C-4CFF-8FF1-ABF36B4C597A}" type="slidenum">
              <a:rPr lang="en-IN" smtClean="0"/>
              <a:t>1</a:t>
            </a:fld>
            <a:endParaRPr lang="en-IN" dirty="0"/>
          </a:p>
        </p:txBody>
      </p:sp>
    </p:spTree>
    <p:extLst>
      <p:ext uri="{BB962C8B-B14F-4D97-AF65-F5344CB8AC3E}">
        <p14:creationId xmlns:p14="http://schemas.microsoft.com/office/powerpoint/2010/main" val="471407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6EBBA-845F-D935-393C-EF0339C9B53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B2159AB-A67D-F782-C3DA-D01E104AE763}"/>
              </a:ext>
            </a:extLst>
          </p:cNvPr>
          <p:cNvSpPr txBox="1"/>
          <p:nvPr/>
        </p:nvSpPr>
        <p:spPr>
          <a:xfrm>
            <a:off x="2554305" y="1066421"/>
            <a:ext cx="6174658" cy="769441"/>
          </a:xfrm>
          <a:prstGeom prst="rect">
            <a:avLst/>
          </a:prstGeom>
          <a:noFill/>
        </p:spPr>
        <p:txBody>
          <a:bodyPr wrap="square">
            <a:spAutoFit/>
          </a:bodyPr>
          <a:lstStyle/>
          <a:p>
            <a:r>
              <a:rPr lang="en-US" sz="4400" b="1" dirty="0">
                <a:latin typeface="+mj-lt"/>
              </a:rPr>
              <a:t>  Objective :</a:t>
            </a:r>
            <a:endParaRPr lang="en-IN" sz="4400" b="1" dirty="0">
              <a:latin typeface="+mj-lt"/>
            </a:endParaRPr>
          </a:p>
        </p:txBody>
      </p:sp>
      <p:sp>
        <p:nvSpPr>
          <p:cNvPr id="8" name="TextBox 7">
            <a:extLst>
              <a:ext uri="{FF2B5EF4-FFF2-40B4-BE49-F238E27FC236}">
                <a16:creationId xmlns:a16="http://schemas.microsoft.com/office/drawing/2014/main" id="{CD0B7827-E7C3-3C4D-BD36-72F1D0EE31A3}"/>
              </a:ext>
            </a:extLst>
          </p:cNvPr>
          <p:cNvSpPr txBox="1"/>
          <p:nvPr/>
        </p:nvSpPr>
        <p:spPr>
          <a:xfrm>
            <a:off x="2809943" y="2101333"/>
            <a:ext cx="6849209" cy="2215991"/>
          </a:xfrm>
          <a:prstGeom prst="rect">
            <a:avLst/>
          </a:prstGeom>
          <a:noFill/>
        </p:spPr>
        <p:txBody>
          <a:bodyPr wrap="square">
            <a:spAutoFit/>
          </a:bodyPr>
          <a:lstStyle/>
          <a:p>
            <a:r>
              <a:rPr lang="en-US" sz="2400" dirty="0"/>
              <a:t>To analyze sales performance across products, customers, channels, and regions, identify key drivers of revenue and profitability, and build an interactive dashboard to support data-driven decision-making.</a:t>
            </a:r>
            <a:endParaRPr lang="en-IN" sz="2400" dirty="0"/>
          </a:p>
          <a:p>
            <a:endParaRPr lang="en-IN" dirty="0"/>
          </a:p>
        </p:txBody>
      </p:sp>
      <p:sp>
        <p:nvSpPr>
          <p:cNvPr id="9" name="Rectangle 8">
            <a:extLst>
              <a:ext uri="{FF2B5EF4-FFF2-40B4-BE49-F238E27FC236}">
                <a16:creationId xmlns:a16="http://schemas.microsoft.com/office/drawing/2014/main" id="{E49C174A-ABA9-7944-5FAD-71FB5E07DE45}"/>
              </a:ext>
            </a:extLst>
          </p:cNvPr>
          <p:cNvSpPr/>
          <p:nvPr/>
        </p:nvSpPr>
        <p:spPr>
          <a:xfrm>
            <a:off x="0" y="0"/>
            <a:ext cx="2054942" cy="68580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Slide Number Placeholder 4">
            <a:extLst>
              <a:ext uri="{FF2B5EF4-FFF2-40B4-BE49-F238E27FC236}">
                <a16:creationId xmlns:a16="http://schemas.microsoft.com/office/drawing/2014/main" id="{6188231F-DF4E-0941-570B-EDFCC997BEDE}"/>
              </a:ext>
            </a:extLst>
          </p:cNvPr>
          <p:cNvSpPr>
            <a:spLocks noGrp="1"/>
          </p:cNvSpPr>
          <p:nvPr>
            <p:ph type="sldNum" sz="quarter" idx="12"/>
          </p:nvPr>
        </p:nvSpPr>
        <p:spPr>
          <a:xfrm>
            <a:off x="9328354" y="6492875"/>
            <a:ext cx="2743200" cy="365125"/>
          </a:xfrm>
        </p:spPr>
        <p:txBody>
          <a:bodyPr/>
          <a:lstStyle/>
          <a:p>
            <a:fld id="{4E3936FF-9C8C-4CFF-8FF1-ABF36B4C597A}" type="slidenum">
              <a:rPr lang="en-IN" smtClean="0"/>
              <a:t>2</a:t>
            </a:fld>
            <a:endParaRPr lang="en-IN" dirty="0"/>
          </a:p>
        </p:txBody>
      </p:sp>
    </p:spTree>
    <p:extLst>
      <p:ext uri="{BB962C8B-B14F-4D97-AF65-F5344CB8AC3E}">
        <p14:creationId xmlns:p14="http://schemas.microsoft.com/office/powerpoint/2010/main" val="1195753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00C65-4231-0CE1-5072-533E75D8B7E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537F096-95AF-7BCA-B62B-4E53BE823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07161"/>
          </a:xfrm>
          <a:prstGeom prst="rect">
            <a:avLst/>
          </a:prstGeom>
        </p:spPr>
      </p:pic>
      <p:sp>
        <p:nvSpPr>
          <p:cNvPr id="4" name="TextBox 3">
            <a:extLst>
              <a:ext uri="{FF2B5EF4-FFF2-40B4-BE49-F238E27FC236}">
                <a16:creationId xmlns:a16="http://schemas.microsoft.com/office/drawing/2014/main" id="{8F0ACD33-3493-BAC7-19CE-D55A8F5E76BE}"/>
              </a:ext>
            </a:extLst>
          </p:cNvPr>
          <p:cNvSpPr txBox="1"/>
          <p:nvPr/>
        </p:nvSpPr>
        <p:spPr>
          <a:xfrm>
            <a:off x="1691147" y="2231922"/>
            <a:ext cx="6597446" cy="1754326"/>
          </a:xfrm>
          <a:prstGeom prst="rect">
            <a:avLst/>
          </a:prstGeom>
          <a:noFill/>
        </p:spPr>
        <p:txBody>
          <a:bodyPr wrap="square" rtlCol="0">
            <a:spAutoFit/>
          </a:bodyPr>
          <a:lstStyle/>
          <a:p>
            <a:r>
              <a:rPr lang="en-US" sz="5400" b="1" dirty="0"/>
              <a:t>EDA (</a:t>
            </a:r>
            <a:r>
              <a:rPr lang="en-US" sz="4800" b="1" dirty="0"/>
              <a:t>Charts and Insights</a:t>
            </a:r>
            <a:r>
              <a:rPr lang="en-US" sz="5400" b="1" dirty="0"/>
              <a:t>)</a:t>
            </a:r>
            <a:endParaRPr lang="en-IN" sz="5400" b="1" dirty="0"/>
          </a:p>
        </p:txBody>
      </p:sp>
      <p:sp>
        <p:nvSpPr>
          <p:cNvPr id="7" name="Slide Number Placeholder 6">
            <a:extLst>
              <a:ext uri="{FF2B5EF4-FFF2-40B4-BE49-F238E27FC236}">
                <a16:creationId xmlns:a16="http://schemas.microsoft.com/office/drawing/2014/main" id="{906A9C7C-E77B-1FE3-A66A-7B056FF17FD2}"/>
              </a:ext>
            </a:extLst>
          </p:cNvPr>
          <p:cNvSpPr>
            <a:spLocks noGrp="1"/>
          </p:cNvSpPr>
          <p:nvPr>
            <p:ph type="sldNum" sz="quarter" idx="12"/>
          </p:nvPr>
        </p:nvSpPr>
        <p:spPr>
          <a:xfrm>
            <a:off x="9338187" y="6542036"/>
            <a:ext cx="2743200" cy="365125"/>
          </a:xfrm>
        </p:spPr>
        <p:txBody>
          <a:bodyPr/>
          <a:lstStyle/>
          <a:p>
            <a:fld id="{4E3936FF-9C8C-4CFF-8FF1-ABF36B4C597A}" type="slidenum">
              <a:rPr lang="en-IN" smtClean="0"/>
              <a:t>3</a:t>
            </a:fld>
            <a:endParaRPr lang="en-IN" dirty="0"/>
          </a:p>
        </p:txBody>
      </p:sp>
    </p:spTree>
    <p:extLst>
      <p:ext uri="{BB962C8B-B14F-4D97-AF65-F5344CB8AC3E}">
        <p14:creationId xmlns:p14="http://schemas.microsoft.com/office/powerpoint/2010/main" val="3505920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6ADDF-E188-815B-D6D7-7D202867D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356B4D-717E-6A5F-9D03-B5E5FA1F638B}"/>
              </a:ext>
            </a:extLst>
          </p:cNvPr>
          <p:cNvSpPr>
            <a:spLocks noGrp="1"/>
          </p:cNvSpPr>
          <p:nvPr>
            <p:ph type="title"/>
          </p:nvPr>
        </p:nvSpPr>
        <p:spPr>
          <a:xfrm>
            <a:off x="838199" y="365126"/>
            <a:ext cx="6270523" cy="765584"/>
          </a:xfrm>
        </p:spPr>
        <p:txBody>
          <a:bodyPr>
            <a:noAutofit/>
          </a:bodyPr>
          <a:lstStyle/>
          <a:p>
            <a:r>
              <a:rPr lang="en-US" sz="3200" b="1" dirty="0"/>
              <a:t>Monthly Sales Trend Over Time</a:t>
            </a:r>
            <a:endParaRPr lang="en-IN" sz="3200" b="1" dirty="0"/>
          </a:p>
        </p:txBody>
      </p:sp>
      <p:pic>
        <p:nvPicPr>
          <p:cNvPr id="1026" name="Picture 2">
            <a:extLst>
              <a:ext uri="{FF2B5EF4-FFF2-40B4-BE49-F238E27FC236}">
                <a16:creationId xmlns:a16="http://schemas.microsoft.com/office/drawing/2014/main" id="{7E0E8035-8616-8330-22C0-0F321DD4F4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542" y="1419301"/>
            <a:ext cx="10429568" cy="258112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6939D0-CE53-8917-B1E6-9B540D7B57D6}"/>
              </a:ext>
            </a:extLst>
          </p:cNvPr>
          <p:cNvSpPr txBox="1"/>
          <p:nvPr/>
        </p:nvSpPr>
        <p:spPr>
          <a:xfrm>
            <a:off x="838200" y="4875554"/>
            <a:ext cx="7853516" cy="1200329"/>
          </a:xfrm>
          <a:prstGeom prst="rect">
            <a:avLst/>
          </a:prstGeom>
          <a:noFill/>
        </p:spPr>
        <p:txBody>
          <a:bodyPr wrap="square">
            <a:sp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Consistent sales cycle: $24M to $26M.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Seasonal peaks: Late spring/early summer (May-June).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Annual low: January.</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Notable outlier: Sharp revenue drop in early 2017.</a:t>
            </a:r>
            <a:endParaRPr lang="en-US" sz="1800" b="0" i="0" u="none" strike="noStrike" cap="none" dirty="0">
              <a:solidFill>
                <a:schemeClr val="lt1"/>
              </a:solidFill>
              <a:ea typeface="Poppins"/>
              <a:cs typeface="Poppins" panose="020B0604020202020204" charset="0"/>
              <a:sym typeface="Poppins"/>
            </a:endParaRPr>
          </a:p>
        </p:txBody>
      </p:sp>
      <p:sp>
        <p:nvSpPr>
          <p:cNvPr id="8" name="TextBox 7">
            <a:extLst>
              <a:ext uri="{FF2B5EF4-FFF2-40B4-BE49-F238E27FC236}">
                <a16:creationId xmlns:a16="http://schemas.microsoft.com/office/drawing/2014/main" id="{8A6B1F14-C770-AF9A-85BF-836CB25FC8EA}"/>
              </a:ext>
            </a:extLst>
          </p:cNvPr>
          <p:cNvSpPr txBox="1"/>
          <p:nvPr/>
        </p:nvSpPr>
        <p:spPr>
          <a:xfrm>
            <a:off x="838200" y="4289012"/>
            <a:ext cx="6096000" cy="400110"/>
          </a:xfrm>
          <a:prstGeom prst="rect">
            <a:avLst/>
          </a:prstGeom>
          <a:noFill/>
        </p:spPr>
        <p:txBody>
          <a:bodyPr wrap="square">
            <a:spAutoFit/>
          </a:bodyPr>
          <a:lstStyle/>
          <a:p>
            <a:r>
              <a:rPr lang="en-IN" sz="2000" b="1" dirty="0">
                <a:solidFill>
                  <a:schemeClr val="tx1">
                    <a:lumMod val="75000"/>
                    <a:lumOff val="25000"/>
                  </a:schemeClr>
                </a:solidFill>
              </a:rPr>
              <a:t>Insights</a:t>
            </a:r>
            <a:endParaRPr lang="en-IN" sz="2000" dirty="0"/>
          </a:p>
        </p:txBody>
      </p:sp>
      <p:sp>
        <p:nvSpPr>
          <p:cNvPr id="12" name="Slide Number Placeholder 11">
            <a:extLst>
              <a:ext uri="{FF2B5EF4-FFF2-40B4-BE49-F238E27FC236}">
                <a16:creationId xmlns:a16="http://schemas.microsoft.com/office/drawing/2014/main" id="{F94B7D31-06EF-2979-20EF-88608FBEE10D}"/>
              </a:ext>
            </a:extLst>
          </p:cNvPr>
          <p:cNvSpPr>
            <a:spLocks noGrp="1"/>
          </p:cNvSpPr>
          <p:nvPr>
            <p:ph type="sldNum" sz="quarter" idx="12"/>
          </p:nvPr>
        </p:nvSpPr>
        <p:spPr>
          <a:xfrm>
            <a:off x="9328355" y="6492875"/>
            <a:ext cx="2743200" cy="365125"/>
          </a:xfrm>
        </p:spPr>
        <p:txBody>
          <a:bodyPr/>
          <a:lstStyle/>
          <a:p>
            <a:fld id="{4E3936FF-9C8C-4CFF-8FF1-ABF36B4C597A}" type="slidenum">
              <a:rPr lang="en-IN" smtClean="0"/>
              <a:t>4</a:t>
            </a:fld>
            <a:endParaRPr lang="en-IN" dirty="0"/>
          </a:p>
        </p:txBody>
      </p:sp>
    </p:spTree>
    <p:extLst>
      <p:ext uri="{BB962C8B-B14F-4D97-AF65-F5344CB8AC3E}">
        <p14:creationId xmlns:p14="http://schemas.microsoft.com/office/powerpoint/2010/main" val="168228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02A6B-A6E4-4450-58DD-84795156F322}"/>
              </a:ext>
            </a:extLst>
          </p:cNvPr>
          <p:cNvSpPr>
            <a:spLocks noGrp="1"/>
          </p:cNvSpPr>
          <p:nvPr>
            <p:ph type="title"/>
          </p:nvPr>
        </p:nvSpPr>
        <p:spPr>
          <a:xfrm>
            <a:off x="533399" y="247139"/>
            <a:ext cx="5719917" cy="736087"/>
          </a:xfrm>
        </p:spPr>
        <p:txBody>
          <a:bodyPr>
            <a:noAutofit/>
          </a:bodyPr>
          <a:lstStyle/>
          <a:p>
            <a:r>
              <a:rPr lang="en-US" sz="3200" b="1" dirty="0"/>
              <a:t>Top 10 Products by Revenue</a:t>
            </a:r>
            <a:endParaRPr lang="en-IN" sz="3200" b="1" dirty="0"/>
          </a:p>
        </p:txBody>
      </p:sp>
      <p:pic>
        <p:nvPicPr>
          <p:cNvPr id="2050" name="Picture 2">
            <a:extLst>
              <a:ext uri="{FF2B5EF4-FFF2-40B4-BE49-F238E27FC236}">
                <a16:creationId xmlns:a16="http://schemas.microsoft.com/office/drawing/2014/main" id="{45F4C846-1D1D-6F74-2D7D-726656E79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919" y="983226"/>
            <a:ext cx="9592442" cy="33724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E2855EF-F496-73D0-25C0-ED91D461346D}"/>
              </a:ext>
            </a:extLst>
          </p:cNvPr>
          <p:cNvSpPr txBox="1"/>
          <p:nvPr/>
        </p:nvSpPr>
        <p:spPr>
          <a:xfrm>
            <a:off x="747252" y="5170435"/>
            <a:ext cx="7983794" cy="1200329"/>
          </a:xfrm>
          <a:prstGeom prst="rect">
            <a:avLst/>
          </a:prstGeom>
          <a:noFill/>
        </p:spPr>
        <p:txBody>
          <a:bodyPr wrap="square">
            <a:sp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0000500000000000000" pitchFamily="2" charset="0"/>
              </a:rPr>
              <a:t>Revenue leaders: Products 26 &amp; 25 dominate.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0000500000000000000" pitchFamily="2" charset="0"/>
              </a:rPr>
              <a:t>Mid-range: Products 5, 13, 14, 15 show similar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0000500000000000000" pitchFamily="2" charset="0"/>
              </a:rPr>
              <a:t>Bottom cluster: Products 1, 2, 3, 4 have the lowest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0000500000000000000" pitchFamily="2" charset="0"/>
              </a:rPr>
              <a:t>Strategy: Grow mid-tier, improve lower performers.</a:t>
            </a:r>
            <a:endParaRPr lang="en-US" sz="1400" b="0" i="0" u="none" strike="noStrike" cap="none" dirty="0">
              <a:solidFill>
                <a:schemeClr val="lt1"/>
              </a:solidFill>
              <a:ea typeface="Poppins"/>
              <a:cs typeface="Poppins" panose="00000500000000000000" pitchFamily="2" charset="0"/>
              <a:sym typeface="Poppins"/>
            </a:endParaRPr>
          </a:p>
        </p:txBody>
      </p:sp>
      <p:sp>
        <p:nvSpPr>
          <p:cNvPr id="8" name="TextBox 7">
            <a:extLst>
              <a:ext uri="{FF2B5EF4-FFF2-40B4-BE49-F238E27FC236}">
                <a16:creationId xmlns:a16="http://schemas.microsoft.com/office/drawing/2014/main" id="{367B4A34-8095-8D1B-D0E1-CF397522BE25}"/>
              </a:ext>
            </a:extLst>
          </p:cNvPr>
          <p:cNvSpPr txBox="1"/>
          <p:nvPr/>
        </p:nvSpPr>
        <p:spPr>
          <a:xfrm>
            <a:off x="747252" y="4503989"/>
            <a:ext cx="6096000" cy="369332"/>
          </a:xfrm>
          <a:prstGeom prst="rect">
            <a:avLst/>
          </a:prstGeom>
          <a:noFill/>
        </p:spPr>
        <p:txBody>
          <a:bodyPr wrap="square">
            <a:spAutoFit/>
          </a:bodyPr>
          <a:lstStyle/>
          <a:p>
            <a:r>
              <a:rPr lang="en-IN" sz="1800" b="1" dirty="0">
                <a:solidFill>
                  <a:schemeClr val="tx1">
                    <a:lumMod val="75000"/>
                    <a:lumOff val="25000"/>
                  </a:schemeClr>
                </a:solidFill>
              </a:rPr>
              <a:t>Insights</a:t>
            </a:r>
            <a:endParaRPr lang="en-IN" sz="1800" dirty="0"/>
          </a:p>
        </p:txBody>
      </p:sp>
      <p:sp>
        <p:nvSpPr>
          <p:cNvPr id="12" name="Slide Number Placeholder 11">
            <a:extLst>
              <a:ext uri="{FF2B5EF4-FFF2-40B4-BE49-F238E27FC236}">
                <a16:creationId xmlns:a16="http://schemas.microsoft.com/office/drawing/2014/main" id="{1BC28BA6-2EDC-7168-167A-320E4A9D0E40}"/>
              </a:ext>
            </a:extLst>
          </p:cNvPr>
          <p:cNvSpPr>
            <a:spLocks noGrp="1"/>
          </p:cNvSpPr>
          <p:nvPr>
            <p:ph type="sldNum" sz="quarter" idx="12"/>
          </p:nvPr>
        </p:nvSpPr>
        <p:spPr>
          <a:xfrm>
            <a:off x="9308690" y="6492875"/>
            <a:ext cx="2743200" cy="365125"/>
          </a:xfrm>
        </p:spPr>
        <p:txBody>
          <a:bodyPr/>
          <a:lstStyle/>
          <a:p>
            <a:fld id="{4E3936FF-9C8C-4CFF-8FF1-ABF36B4C597A}" type="slidenum">
              <a:rPr lang="en-IN" smtClean="0"/>
              <a:t>5</a:t>
            </a:fld>
            <a:endParaRPr lang="en-IN" dirty="0"/>
          </a:p>
        </p:txBody>
      </p:sp>
    </p:spTree>
    <p:extLst>
      <p:ext uri="{BB962C8B-B14F-4D97-AF65-F5344CB8AC3E}">
        <p14:creationId xmlns:p14="http://schemas.microsoft.com/office/powerpoint/2010/main" val="742988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87DF7-8B1D-CF27-847E-72A535B1D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76CE4-E1AC-C217-CA80-222327A50D9E}"/>
              </a:ext>
            </a:extLst>
          </p:cNvPr>
          <p:cNvSpPr>
            <a:spLocks noGrp="1"/>
          </p:cNvSpPr>
          <p:nvPr>
            <p:ph type="title"/>
          </p:nvPr>
        </p:nvSpPr>
        <p:spPr>
          <a:xfrm>
            <a:off x="704236" y="265183"/>
            <a:ext cx="7918654" cy="726256"/>
          </a:xfrm>
        </p:spPr>
        <p:txBody>
          <a:bodyPr>
            <a:noAutofit/>
          </a:bodyPr>
          <a:lstStyle/>
          <a:p>
            <a:r>
              <a:rPr lang="en-US" sz="3200" b="1" dirty="0"/>
              <a:t>Top 10 Products by Average Profit Margin</a:t>
            </a:r>
            <a:endParaRPr lang="en-IN" sz="3200" b="1" dirty="0"/>
          </a:p>
        </p:txBody>
      </p:sp>
      <p:pic>
        <p:nvPicPr>
          <p:cNvPr id="3074" name="Picture 2">
            <a:extLst>
              <a:ext uri="{FF2B5EF4-FFF2-40B4-BE49-F238E27FC236}">
                <a16:creationId xmlns:a16="http://schemas.microsoft.com/office/drawing/2014/main" id="{7D1BA887-0E36-9B55-E1B2-73343BE8F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2387" y="1091382"/>
            <a:ext cx="9026013" cy="335494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7D0D65C-67CD-F7C4-8249-01D780029995}"/>
              </a:ext>
            </a:extLst>
          </p:cNvPr>
          <p:cNvSpPr txBox="1"/>
          <p:nvPr/>
        </p:nvSpPr>
        <p:spPr>
          <a:xfrm>
            <a:off x="1170039" y="5015546"/>
            <a:ext cx="8239432" cy="1200329"/>
          </a:xfrm>
          <a:prstGeom prst="rect">
            <a:avLst/>
          </a:prstGeom>
          <a:noFill/>
        </p:spPr>
        <p:txBody>
          <a:bodyPr wrap="square">
            <a:sp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cs typeface="Poppins" panose="020B0604020202020204" charset="0"/>
              </a:rPr>
              <a:t>Top: Products 18 &amp; 28 lead at ~$8.1–8.4K.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cs typeface="Poppins" panose="020B0604020202020204" charset="0"/>
              </a:rPr>
              <a:t>Next tier: Products 5, 11, 12 &amp; 26 at ~$7.5–7.8K.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cs typeface="Poppins" panose="020B0604020202020204" charset="0"/>
              </a:rPr>
              <a:t>Entry‑level: Products 1, 4, 16 &amp; 21 around $7.3K.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cs typeface="Poppins" panose="020B0604020202020204" charset="0"/>
              </a:rPr>
              <a:t>Takeaway: Top 10 all exceed $7.3K—consistent high margins.</a:t>
            </a:r>
          </a:p>
        </p:txBody>
      </p:sp>
      <p:sp>
        <p:nvSpPr>
          <p:cNvPr id="6" name="TextBox 5">
            <a:extLst>
              <a:ext uri="{FF2B5EF4-FFF2-40B4-BE49-F238E27FC236}">
                <a16:creationId xmlns:a16="http://schemas.microsoft.com/office/drawing/2014/main" id="{F37A939C-5433-8481-8C3E-E5D74E41488C}"/>
              </a:ext>
            </a:extLst>
          </p:cNvPr>
          <p:cNvSpPr txBox="1"/>
          <p:nvPr/>
        </p:nvSpPr>
        <p:spPr>
          <a:xfrm>
            <a:off x="1170039" y="4446328"/>
            <a:ext cx="6096000" cy="400110"/>
          </a:xfrm>
          <a:prstGeom prst="rect">
            <a:avLst/>
          </a:prstGeom>
          <a:noFill/>
        </p:spPr>
        <p:txBody>
          <a:bodyPr wrap="square">
            <a:spAutoFit/>
          </a:bodyPr>
          <a:lstStyle/>
          <a:p>
            <a:r>
              <a:rPr lang="en-IN" sz="2000" b="1" dirty="0">
                <a:solidFill>
                  <a:schemeClr val="tx1">
                    <a:lumMod val="75000"/>
                    <a:lumOff val="25000"/>
                  </a:schemeClr>
                </a:solidFill>
              </a:rPr>
              <a:t>Insights</a:t>
            </a:r>
            <a:endParaRPr lang="en-IN" sz="2000" dirty="0"/>
          </a:p>
        </p:txBody>
      </p:sp>
      <p:sp>
        <p:nvSpPr>
          <p:cNvPr id="10" name="Slide Number Placeholder 9">
            <a:extLst>
              <a:ext uri="{FF2B5EF4-FFF2-40B4-BE49-F238E27FC236}">
                <a16:creationId xmlns:a16="http://schemas.microsoft.com/office/drawing/2014/main" id="{196551F5-BE90-5768-1D0F-50E9CAAE55AD}"/>
              </a:ext>
            </a:extLst>
          </p:cNvPr>
          <p:cNvSpPr>
            <a:spLocks noGrp="1"/>
          </p:cNvSpPr>
          <p:nvPr>
            <p:ph type="sldNum" sz="quarter" idx="12"/>
          </p:nvPr>
        </p:nvSpPr>
        <p:spPr>
          <a:xfrm>
            <a:off x="9308690" y="6492875"/>
            <a:ext cx="2743200" cy="365125"/>
          </a:xfrm>
        </p:spPr>
        <p:txBody>
          <a:bodyPr/>
          <a:lstStyle/>
          <a:p>
            <a:fld id="{4E3936FF-9C8C-4CFF-8FF1-ABF36B4C597A}" type="slidenum">
              <a:rPr lang="en-IN" smtClean="0"/>
              <a:t>6</a:t>
            </a:fld>
            <a:endParaRPr lang="en-IN"/>
          </a:p>
        </p:txBody>
      </p:sp>
    </p:spTree>
    <p:extLst>
      <p:ext uri="{BB962C8B-B14F-4D97-AF65-F5344CB8AC3E}">
        <p14:creationId xmlns:p14="http://schemas.microsoft.com/office/powerpoint/2010/main" val="2401229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3807-9A63-AECA-18F9-ADE3BBC75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1FB0E-9735-E7F7-19D0-8D438B49FCD5}"/>
              </a:ext>
            </a:extLst>
          </p:cNvPr>
          <p:cNvSpPr>
            <a:spLocks noGrp="1"/>
          </p:cNvSpPr>
          <p:nvPr>
            <p:ph type="title"/>
          </p:nvPr>
        </p:nvSpPr>
        <p:spPr>
          <a:xfrm>
            <a:off x="818536" y="256971"/>
            <a:ext cx="4323735" cy="749300"/>
          </a:xfrm>
        </p:spPr>
        <p:txBody>
          <a:bodyPr>
            <a:noAutofit/>
          </a:bodyPr>
          <a:lstStyle/>
          <a:p>
            <a:r>
              <a:rPr lang="en-US" sz="3200" b="1" dirty="0"/>
              <a:t>Total Sales by Channel</a:t>
            </a:r>
            <a:endParaRPr lang="en-IN" sz="3200" b="1" dirty="0"/>
          </a:p>
        </p:txBody>
      </p:sp>
      <p:pic>
        <p:nvPicPr>
          <p:cNvPr id="4098" name="Picture 2">
            <a:extLst>
              <a:ext uri="{FF2B5EF4-FFF2-40B4-BE49-F238E27FC236}">
                <a16:creationId xmlns:a16="http://schemas.microsoft.com/office/drawing/2014/main" id="{AC3A7624-2C60-BC20-2677-10CE06BD9E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696" y="1212748"/>
            <a:ext cx="4600575" cy="46291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EC59E4A-D88F-BF0A-848A-DB86BA32D5BC}"/>
              </a:ext>
            </a:extLst>
          </p:cNvPr>
          <p:cNvSpPr txBox="1"/>
          <p:nvPr/>
        </p:nvSpPr>
        <p:spPr>
          <a:xfrm>
            <a:off x="5388078" y="2373161"/>
            <a:ext cx="6096000" cy="2308324"/>
          </a:xfrm>
          <a:prstGeom prst="rect">
            <a:avLst/>
          </a:prstGeom>
          <a:noFill/>
        </p:spPr>
        <p:txBody>
          <a:bodyPr wrap="square">
            <a:sp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cs typeface="Poppins" panose="020B0604020202020204" charset="0"/>
              </a:rPr>
              <a:t>Wholesale dominates: Generates the majority of total sales at 54.1%.</a:t>
            </a:r>
          </a:p>
          <a:p>
            <a:pPr marR="0" lvl="0" rtl="0">
              <a:lnSpc>
                <a:spcPct val="100000"/>
              </a:lnSpc>
              <a:spcBef>
                <a:spcPts val="0"/>
              </a:spcBef>
              <a:spcAft>
                <a:spcPts val="0"/>
              </a:spcAft>
              <a:buClr>
                <a:srgbClr val="000000"/>
              </a:buClr>
              <a:buSzPts val="1800"/>
            </a:pPr>
            <a:endParaRPr lang="en-GB" sz="1800" dirty="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cs typeface="Poppins" panose="020B0604020202020204" charset="0"/>
              </a:rPr>
              <a:t>Distributor is significant: Contributes a substantial 31.3% to total sales.</a:t>
            </a:r>
          </a:p>
          <a:p>
            <a:pPr marR="0" lvl="0" rtl="0">
              <a:lnSpc>
                <a:spcPct val="100000"/>
              </a:lnSpc>
              <a:spcBef>
                <a:spcPts val="0"/>
              </a:spcBef>
              <a:spcAft>
                <a:spcPts val="0"/>
              </a:spcAft>
              <a:buClr>
                <a:srgbClr val="000000"/>
              </a:buClr>
              <a:buSzPts val="1800"/>
            </a:pPr>
            <a:endParaRPr lang="en-GB" sz="1800" dirty="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800" dirty="0">
                <a:effectLst/>
                <a:cs typeface="Poppins" panose="020B0604020202020204" charset="0"/>
              </a:rPr>
              <a:t>Export is a smaller portion: Accounts for 14.6% of the total sales.</a:t>
            </a:r>
            <a:endParaRPr lang="en-GB" sz="1800" b="0" i="0" u="none" strike="noStrike" cap="none" dirty="0">
              <a:solidFill>
                <a:schemeClr val="lt1"/>
              </a:solidFill>
              <a:ea typeface="Poppins"/>
              <a:cs typeface="Poppins" panose="020B0604020202020204" charset="0"/>
              <a:sym typeface="Poppins"/>
            </a:endParaRPr>
          </a:p>
        </p:txBody>
      </p:sp>
      <p:sp>
        <p:nvSpPr>
          <p:cNvPr id="6" name="TextBox 5">
            <a:extLst>
              <a:ext uri="{FF2B5EF4-FFF2-40B4-BE49-F238E27FC236}">
                <a16:creationId xmlns:a16="http://schemas.microsoft.com/office/drawing/2014/main" id="{A017C08F-83AF-2118-00D3-23A0568E8D3B}"/>
              </a:ext>
            </a:extLst>
          </p:cNvPr>
          <p:cNvSpPr txBox="1"/>
          <p:nvPr/>
        </p:nvSpPr>
        <p:spPr>
          <a:xfrm>
            <a:off x="5388078" y="1329502"/>
            <a:ext cx="1769806" cy="400110"/>
          </a:xfrm>
          <a:prstGeom prst="rect">
            <a:avLst/>
          </a:prstGeom>
          <a:noFill/>
        </p:spPr>
        <p:txBody>
          <a:bodyPr wrap="square">
            <a:spAutoFit/>
          </a:bodyPr>
          <a:lstStyle/>
          <a:p>
            <a:r>
              <a:rPr lang="en-IN" sz="2000" b="1" dirty="0">
                <a:solidFill>
                  <a:schemeClr val="tx1">
                    <a:lumMod val="75000"/>
                    <a:lumOff val="25000"/>
                  </a:schemeClr>
                </a:solidFill>
              </a:rPr>
              <a:t>Insights</a:t>
            </a:r>
            <a:endParaRPr lang="en-IN" sz="2000" dirty="0"/>
          </a:p>
        </p:txBody>
      </p:sp>
      <p:sp>
        <p:nvSpPr>
          <p:cNvPr id="10" name="Slide Number Placeholder 9">
            <a:extLst>
              <a:ext uri="{FF2B5EF4-FFF2-40B4-BE49-F238E27FC236}">
                <a16:creationId xmlns:a16="http://schemas.microsoft.com/office/drawing/2014/main" id="{9069EE9D-CBBD-1D46-28C9-952CF2908E10}"/>
              </a:ext>
            </a:extLst>
          </p:cNvPr>
          <p:cNvSpPr>
            <a:spLocks noGrp="1"/>
          </p:cNvSpPr>
          <p:nvPr>
            <p:ph type="sldNum" sz="quarter" idx="12"/>
          </p:nvPr>
        </p:nvSpPr>
        <p:spPr>
          <a:xfrm>
            <a:off x="9328355" y="6492875"/>
            <a:ext cx="2743200" cy="365125"/>
          </a:xfrm>
        </p:spPr>
        <p:txBody>
          <a:bodyPr/>
          <a:lstStyle/>
          <a:p>
            <a:fld id="{4E3936FF-9C8C-4CFF-8FF1-ABF36B4C597A}" type="slidenum">
              <a:rPr lang="en-IN" smtClean="0"/>
              <a:t>7</a:t>
            </a:fld>
            <a:endParaRPr lang="en-IN"/>
          </a:p>
        </p:txBody>
      </p:sp>
    </p:spTree>
    <p:extLst>
      <p:ext uri="{BB962C8B-B14F-4D97-AF65-F5344CB8AC3E}">
        <p14:creationId xmlns:p14="http://schemas.microsoft.com/office/powerpoint/2010/main" val="3191109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DBD2A-5D7C-E008-E031-AC8639F1A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74091-8A8A-E898-3E22-DF6626E8B93A}"/>
              </a:ext>
            </a:extLst>
          </p:cNvPr>
          <p:cNvSpPr>
            <a:spLocks noGrp="1"/>
          </p:cNvSpPr>
          <p:nvPr>
            <p:ph type="title"/>
          </p:nvPr>
        </p:nvSpPr>
        <p:spPr>
          <a:xfrm>
            <a:off x="513735" y="247137"/>
            <a:ext cx="7283245" cy="667263"/>
          </a:xfrm>
        </p:spPr>
        <p:txBody>
          <a:bodyPr>
            <a:noAutofit/>
          </a:bodyPr>
          <a:lstStyle/>
          <a:p>
            <a:r>
              <a:rPr lang="en-US" sz="3200" b="1" dirty="0"/>
              <a:t>Total Sales by State (Choropleth Map)</a:t>
            </a:r>
            <a:endParaRPr lang="en-IN" sz="3200" b="1" dirty="0"/>
          </a:p>
        </p:txBody>
      </p:sp>
      <p:pic>
        <p:nvPicPr>
          <p:cNvPr id="4" name="Picture 3">
            <a:extLst>
              <a:ext uri="{FF2B5EF4-FFF2-40B4-BE49-F238E27FC236}">
                <a16:creationId xmlns:a16="http://schemas.microsoft.com/office/drawing/2014/main" id="{811BC7CA-EFC5-8F2E-D605-E39035D8F570}"/>
              </a:ext>
            </a:extLst>
          </p:cNvPr>
          <p:cNvPicPr>
            <a:picLocks noChangeAspect="1"/>
          </p:cNvPicPr>
          <p:nvPr/>
        </p:nvPicPr>
        <p:blipFill>
          <a:blip r:embed="rId2">
            <a:extLst>
              <a:ext uri="{28A0092B-C50C-407E-A947-70E740481C1C}">
                <a14:useLocalDpi xmlns:a14="http://schemas.microsoft.com/office/drawing/2010/main" val="0"/>
              </a:ext>
            </a:extLst>
          </a:blip>
          <a:srcRect l="-1" r="42787"/>
          <a:stretch>
            <a:fillRect/>
          </a:stretch>
        </p:blipFill>
        <p:spPr>
          <a:xfrm>
            <a:off x="631723" y="1043551"/>
            <a:ext cx="5088194" cy="3982064"/>
          </a:xfrm>
          <a:prstGeom prst="rect">
            <a:avLst/>
          </a:prstGeom>
        </p:spPr>
      </p:pic>
      <p:pic>
        <p:nvPicPr>
          <p:cNvPr id="6" name="Picture 5">
            <a:extLst>
              <a:ext uri="{FF2B5EF4-FFF2-40B4-BE49-F238E27FC236}">
                <a16:creationId xmlns:a16="http://schemas.microsoft.com/office/drawing/2014/main" id="{EB9BC79E-6683-E804-E9CC-21FCA1EC79BC}"/>
              </a:ext>
            </a:extLst>
          </p:cNvPr>
          <p:cNvPicPr>
            <a:picLocks noChangeAspect="1"/>
          </p:cNvPicPr>
          <p:nvPr/>
        </p:nvPicPr>
        <p:blipFill>
          <a:blip r:embed="rId2">
            <a:extLst>
              <a:ext uri="{28A0092B-C50C-407E-A947-70E740481C1C}">
                <a14:useLocalDpi xmlns:a14="http://schemas.microsoft.com/office/drawing/2010/main" val="0"/>
              </a:ext>
            </a:extLst>
          </a:blip>
          <a:srcRect l="89435"/>
          <a:stretch>
            <a:fillRect/>
          </a:stretch>
        </p:blipFill>
        <p:spPr>
          <a:xfrm>
            <a:off x="5732206" y="717756"/>
            <a:ext cx="1288026" cy="3982064"/>
          </a:xfrm>
          <a:prstGeom prst="rect">
            <a:avLst/>
          </a:prstGeom>
        </p:spPr>
      </p:pic>
      <p:sp>
        <p:nvSpPr>
          <p:cNvPr id="5" name="TextBox 4">
            <a:extLst>
              <a:ext uri="{FF2B5EF4-FFF2-40B4-BE49-F238E27FC236}">
                <a16:creationId xmlns:a16="http://schemas.microsoft.com/office/drawing/2014/main" id="{227B1A55-11EF-A965-C0FB-2FE523720C8F}"/>
              </a:ext>
            </a:extLst>
          </p:cNvPr>
          <p:cNvSpPr txBox="1"/>
          <p:nvPr/>
        </p:nvSpPr>
        <p:spPr>
          <a:xfrm>
            <a:off x="7659329" y="1603422"/>
            <a:ext cx="3401962" cy="3416320"/>
          </a:xfrm>
          <a:prstGeom prst="rect">
            <a:avLst/>
          </a:prstGeom>
          <a:noFill/>
        </p:spPr>
        <p:txBody>
          <a:bodyPr wrap="square">
            <a:sp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California leads: Highest total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US" sz="1800"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Texas, Florida, Illinois: Significant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US" sz="1800"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Varying sales: Other states show moderate to low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US" sz="1800"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Visual pattern: Higher sales in larger and some coastal states.</a:t>
            </a:r>
            <a:endParaRPr lang="en-US" sz="1400" b="0" i="0" u="none" strike="noStrike" cap="none" dirty="0">
              <a:solidFill>
                <a:schemeClr val="lt1"/>
              </a:solidFill>
              <a:ea typeface="Poppins"/>
              <a:cs typeface="Poppins" panose="020B0604020202020204" charset="0"/>
              <a:sym typeface="Poppins"/>
            </a:endParaRPr>
          </a:p>
        </p:txBody>
      </p:sp>
      <p:sp>
        <p:nvSpPr>
          <p:cNvPr id="8" name="TextBox 7">
            <a:extLst>
              <a:ext uri="{FF2B5EF4-FFF2-40B4-BE49-F238E27FC236}">
                <a16:creationId xmlns:a16="http://schemas.microsoft.com/office/drawing/2014/main" id="{136C0B7B-5ADE-67DF-CB15-640E363055B5}"/>
              </a:ext>
            </a:extLst>
          </p:cNvPr>
          <p:cNvSpPr txBox="1"/>
          <p:nvPr/>
        </p:nvSpPr>
        <p:spPr>
          <a:xfrm>
            <a:off x="7659329" y="858885"/>
            <a:ext cx="1288026" cy="400110"/>
          </a:xfrm>
          <a:prstGeom prst="rect">
            <a:avLst/>
          </a:prstGeom>
          <a:noFill/>
        </p:spPr>
        <p:txBody>
          <a:bodyPr wrap="square">
            <a:spAutoFit/>
          </a:bodyPr>
          <a:lstStyle/>
          <a:p>
            <a:r>
              <a:rPr lang="en-IN" sz="2000" b="1" dirty="0">
                <a:solidFill>
                  <a:schemeClr val="tx1">
                    <a:lumMod val="75000"/>
                    <a:lumOff val="25000"/>
                  </a:schemeClr>
                </a:solidFill>
              </a:rPr>
              <a:t>Insights</a:t>
            </a:r>
            <a:endParaRPr lang="en-IN" sz="2000" dirty="0"/>
          </a:p>
        </p:txBody>
      </p:sp>
      <p:sp>
        <p:nvSpPr>
          <p:cNvPr id="12" name="Slide Number Placeholder 11">
            <a:extLst>
              <a:ext uri="{FF2B5EF4-FFF2-40B4-BE49-F238E27FC236}">
                <a16:creationId xmlns:a16="http://schemas.microsoft.com/office/drawing/2014/main" id="{18FC707C-AAF4-EABD-DA77-FA75EAF14893}"/>
              </a:ext>
            </a:extLst>
          </p:cNvPr>
          <p:cNvSpPr>
            <a:spLocks noGrp="1"/>
          </p:cNvSpPr>
          <p:nvPr>
            <p:ph type="sldNum" sz="quarter" idx="12"/>
          </p:nvPr>
        </p:nvSpPr>
        <p:spPr>
          <a:xfrm>
            <a:off x="9311149" y="6492875"/>
            <a:ext cx="2743200" cy="365125"/>
          </a:xfrm>
        </p:spPr>
        <p:txBody>
          <a:bodyPr/>
          <a:lstStyle/>
          <a:p>
            <a:fld id="{4E3936FF-9C8C-4CFF-8FF1-ABF36B4C597A}" type="slidenum">
              <a:rPr lang="en-IN" smtClean="0"/>
              <a:t>8</a:t>
            </a:fld>
            <a:endParaRPr lang="en-IN" dirty="0"/>
          </a:p>
        </p:txBody>
      </p:sp>
    </p:spTree>
    <p:extLst>
      <p:ext uri="{BB962C8B-B14F-4D97-AF65-F5344CB8AC3E}">
        <p14:creationId xmlns:p14="http://schemas.microsoft.com/office/powerpoint/2010/main" val="3149642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9D13C-B2AE-19E4-D88F-7BBA9CFF2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78AC4-44B2-3271-0E04-04EC0F016189}"/>
              </a:ext>
            </a:extLst>
          </p:cNvPr>
          <p:cNvSpPr>
            <a:spLocks noGrp="1"/>
          </p:cNvSpPr>
          <p:nvPr>
            <p:ph type="title"/>
          </p:nvPr>
        </p:nvSpPr>
        <p:spPr>
          <a:xfrm>
            <a:off x="838200" y="365125"/>
            <a:ext cx="4697361" cy="480449"/>
          </a:xfrm>
        </p:spPr>
        <p:txBody>
          <a:bodyPr>
            <a:noAutofit/>
          </a:bodyPr>
          <a:lstStyle/>
          <a:p>
            <a:r>
              <a:rPr lang="en-US" sz="3200" b="1" dirty="0"/>
              <a:t>Total Sales by US Region</a:t>
            </a:r>
            <a:endParaRPr lang="en-IN" sz="3200" b="1" dirty="0"/>
          </a:p>
        </p:txBody>
      </p:sp>
      <p:pic>
        <p:nvPicPr>
          <p:cNvPr id="6146" name="Picture 2">
            <a:extLst>
              <a:ext uri="{FF2B5EF4-FFF2-40B4-BE49-F238E27FC236}">
                <a16:creationId xmlns:a16="http://schemas.microsoft.com/office/drawing/2014/main" id="{5BD502EE-D6D5-62C8-92A1-820629EAC8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7407" y="988453"/>
            <a:ext cx="9036307" cy="29346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2EEA721-4889-AE1A-64B7-6DF770631512}"/>
              </a:ext>
            </a:extLst>
          </p:cNvPr>
          <p:cNvSpPr txBox="1"/>
          <p:nvPr/>
        </p:nvSpPr>
        <p:spPr>
          <a:xfrm>
            <a:off x="838200" y="5063014"/>
            <a:ext cx="9036306" cy="1200329"/>
          </a:xfrm>
          <a:prstGeom prst="rect">
            <a:avLst/>
          </a:prstGeom>
          <a:noFill/>
        </p:spPr>
        <p:txBody>
          <a:bodyPr wrap="square">
            <a:sp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West: Highest sales, strong market influence.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South: Major sales contributor, key market area.</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Midwest: Steady sales performance, moderate market size.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Northeast: Lowest sales, suggests need for deeper market understanding.</a:t>
            </a:r>
            <a:endParaRPr lang="en-US" sz="1800" b="0" i="0" u="none" strike="noStrike" cap="none" dirty="0">
              <a:solidFill>
                <a:schemeClr val="lt1"/>
              </a:solidFill>
              <a:ea typeface="Poppins"/>
              <a:cs typeface="Poppins" panose="020B0604020202020204" charset="0"/>
              <a:sym typeface="Poppins"/>
            </a:endParaRPr>
          </a:p>
        </p:txBody>
      </p:sp>
      <p:sp>
        <p:nvSpPr>
          <p:cNvPr id="6" name="TextBox 5">
            <a:extLst>
              <a:ext uri="{FF2B5EF4-FFF2-40B4-BE49-F238E27FC236}">
                <a16:creationId xmlns:a16="http://schemas.microsoft.com/office/drawing/2014/main" id="{81C65CBB-1976-E8D3-202D-537B3E0197A0}"/>
              </a:ext>
            </a:extLst>
          </p:cNvPr>
          <p:cNvSpPr txBox="1"/>
          <p:nvPr/>
        </p:nvSpPr>
        <p:spPr>
          <a:xfrm>
            <a:off x="838200" y="4341716"/>
            <a:ext cx="1520314" cy="400110"/>
          </a:xfrm>
          <a:prstGeom prst="rect">
            <a:avLst/>
          </a:prstGeom>
          <a:noFill/>
        </p:spPr>
        <p:txBody>
          <a:bodyPr wrap="square">
            <a:spAutoFit/>
          </a:bodyPr>
          <a:lstStyle/>
          <a:p>
            <a:r>
              <a:rPr lang="en-IN" sz="2000" b="1" dirty="0">
                <a:solidFill>
                  <a:schemeClr val="tx1">
                    <a:lumMod val="75000"/>
                    <a:lumOff val="25000"/>
                  </a:schemeClr>
                </a:solidFill>
              </a:rPr>
              <a:t>Insights</a:t>
            </a:r>
            <a:endParaRPr lang="en-IN" sz="2000" dirty="0"/>
          </a:p>
        </p:txBody>
      </p:sp>
      <p:sp>
        <p:nvSpPr>
          <p:cNvPr id="10" name="Slide Number Placeholder 9">
            <a:extLst>
              <a:ext uri="{FF2B5EF4-FFF2-40B4-BE49-F238E27FC236}">
                <a16:creationId xmlns:a16="http://schemas.microsoft.com/office/drawing/2014/main" id="{951AC7DF-5108-CB39-B56B-EDA30139D5CA}"/>
              </a:ext>
            </a:extLst>
          </p:cNvPr>
          <p:cNvSpPr>
            <a:spLocks noGrp="1"/>
          </p:cNvSpPr>
          <p:nvPr>
            <p:ph type="sldNum" sz="quarter" idx="12"/>
          </p:nvPr>
        </p:nvSpPr>
        <p:spPr>
          <a:xfrm>
            <a:off x="9308690" y="6492875"/>
            <a:ext cx="2743200" cy="365125"/>
          </a:xfrm>
        </p:spPr>
        <p:txBody>
          <a:bodyPr/>
          <a:lstStyle/>
          <a:p>
            <a:fld id="{4E3936FF-9C8C-4CFF-8FF1-ABF36B4C597A}" type="slidenum">
              <a:rPr lang="en-IN" smtClean="0"/>
              <a:t>9</a:t>
            </a:fld>
            <a:endParaRPr lang="en-IN" dirty="0"/>
          </a:p>
        </p:txBody>
      </p:sp>
    </p:spTree>
    <p:extLst>
      <p:ext uri="{BB962C8B-B14F-4D97-AF65-F5344CB8AC3E}">
        <p14:creationId xmlns:p14="http://schemas.microsoft.com/office/powerpoint/2010/main" val="1511504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B2709-7874-A238-E79C-BA291696C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E0D50-D994-FCD1-6720-517AD2F2BEC1}"/>
              </a:ext>
            </a:extLst>
          </p:cNvPr>
          <p:cNvSpPr>
            <a:spLocks noGrp="1"/>
          </p:cNvSpPr>
          <p:nvPr>
            <p:ph type="title"/>
          </p:nvPr>
        </p:nvSpPr>
        <p:spPr>
          <a:xfrm>
            <a:off x="838200" y="335630"/>
            <a:ext cx="7833852" cy="804914"/>
          </a:xfrm>
        </p:spPr>
        <p:txBody>
          <a:bodyPr>
            <a:noAutofit/>
          </a:bodyPr>
          <a:lstStyle/>
          <a:p>
            <a:r>
              <a:rPr lang="en-US" sz="3200" b="1" dirty="0"/>
              <a:t>Average Order Value (AOV) Distribution</a:t>
            </a:r>
            <a:endParaRPr lang="en-IN" sz="3200" b="1" dirty="0"/>
          </a:p>
        </p:txBody>
      </p:sp>
      <p:pic>
        <p:nvPicPr>
          <p:cNvPr id="5122" name="Picture 2">
            <a:extLst>
              <a:ext uri="{FF2B5EF4-FFF2-40B4-BE49-F238E27FC236}">
                <a16:creationId xmlns:a16="http://schemas.microsoft.com/office/drawing/2014/main" id="{1E361B11-7F8C-7900-EDFD-FC3356C0BD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213" y="1170040"/>
            <a:ext cx="11325225" cy="253672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13E4D1F-59B6-88C0-AE42-360A99A6DC4B}"/>
              </a:ext>
            </a:extLst>
          </p:cNvPr>
          <p:cNvSpPr txBox="1"/>
          <p:nvPr/>
        </p:nvSpPr>
        <p:spPr>
          <a:xfrm>
            <a:off x="1002889" y="4491045"/>
            <a:ext cx="7423355" cy="2031325"/>
          </a:xfrm>
          <a:prstGeom prst="rect">
            <a:avLst/>
          </a:prstGeom>
          <a:noFill/>
        </p:spPr>
        <p:txBody>
          <a:bodyPr wrap="square">
            <a:sp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Low average order values are frequent.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US" sz="1800"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Distribution is right-skewed (long tail of high-value orders).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US" sz="1800"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Multiple order value clusters exist.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US" sz="1800"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Higher order values are less common.</a:t>
            </a:r>
            <a:endParaRPr lang="en-US" sz="1400" b="0" i="0" u="none" strike="noStrike" cap="none" dirty="0">
              <a:solidFill>
                <a:schemeClr val="lt1"/>
              </a:solidFill>
              <a:ea typeface="Poppins"/>
              <a:cs typeface="Poppins" panose="020B0604020202020204" charset="0"/>
              <a:sym typeface="Poppins"/>
            </a:endParaRPr>
          </a:p>
        </p:txBody>
      </p:sp>
      <p:sp>
        <p:nvSpPr>
          <p:cNvPr id="6" name="TextBox 5">
            <a:extLst>
              <a:ext uri="{FF2B5EF4-FFF2-40B4-BE49-F238E27FC236}">
                <a16:creationId xmlns:a16="http://schemas.microsoft.com/office/drawing/2014/main" id="{E3288CD6-4138-524F-F1B0-5B13280667B1}"/>
              </a:ext>
            </a:extLst>
          </p:cNvPr>
          <p:cNvSpPr txBox="1"/>
          <p:nvPr/>
        </p:nvSpPr>
        <p:spPr>
          <a:xfrm>
            <a:off x="1131938" y="3914237"/>
            <a:ext cx="6096000" cy="369332"/>
          </a:xfrm>
          <a:prstGeom prst="rect">
            <a:avLst/>
          </a:prstGeom>
          <a:noFill/>
        </p:spPr>
        <p:txBody>
          <a:bodyPr wrap="square">
            <a:spAutoFit/>
          </a:bodyPr>
          <a:lstStyle/>
          <a:p>
            <a:r>
              <a:rPr lang="en-IN" sz="1800" b="1" dirty="0">
                <a:solidFill>
                  <a:schemeClr val="tx1">
                    <a:lumMod val="75000"/>
                    <a:lumOff val="25000"/>
                  </a:schemeClr>
                </a:solidFill>
              </a:rPr>
              <a:t>Insights</a:t>
            </a:r>
            <a:endParaRPr lang="en-IN" sz="1800" dirty="0"/>
          </a:p>
        </p:txBody>
      </p:sp>
      <p:sp>
        <p:nvSpPr>
          <p:cNvPr id="10" name="Slide Number Placeholder 9">
            <a:extLst>
              <a:ext uri="{FF2B5EF4-FFF2-40B4-BE49-F238E27FC236}">
                <a16:creationId xmlns:a16="http://schemas.microsoft.com/office/drawing/2014/main" id="{9217A629-CAE5-0B9F-FEE6-89B4D2951889}"/>
              </a:ext>
            </a:extLst>
          </p:cNvPr>
          <p:cNvSpPr>
            <a:spLocks noGrp="1"/>
          </p:cNvSpPr>
          <p:nvPr>
            <p:ph type="sldNum" sz="quarter" idx="12"/>
          </p:nvPr>
        </p:nvSpPr>
        <p:spPr>
          <a:xfrm>
            <a:off x="9357851" y="6492875"/>
            <a:ext cx="2743200" cy="365125"/>
          </a:xfrm>
        </p:spPr>
        <p:txBody>
          <a:bodyPr/>
          <a:lstStyle/>
          <a:p>
            <a:fld id="{4E3936FF-9C8C-4CFF-8FF1-ABF36B4C597A}" type="slidenum">
              <a:rPr lang="en-IN" smtClean="0"/>
              <a:t>10</a:t>
            </a:fld>
            <a:endParaRPr lang="en-IN" dirty="0"/>
          </a:p>
        </p:txBody>
      </p:sp>
    </p:spTree>
    <p:extLst>
      <p:ext uri="{BB962C8B-B14F-4D97-AF65-F5344CB8AC3E}">
        <p14:creationId xmlns:p14="http://schemas.microsoft.com/office/powerpoint/2010/main" val="1893364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2CD00-2F01-9EDD-399A-F7DE598A9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33631-0923-4443-EDB3-C14F380577AC}"/>
              </a:ext>
            </a:extLst>
          </p:cNvPr>
          <p:cNvSpPr>
            <a:spLocks noGrp="1"/>
          </p:cNvSpPr>
          <p:nvPr>
            <p:ph type="title"/>
          </p:nvPr>
        </p:nvSpPr>
        <p:spPr>
          <a:xfrm>
            <a:off x="437534" y="266803"/>
            <a:ext cx="8401665" cy="686927"/>
          </a:xfrm>
        </p:spPr>
        <p:txBody>
          <a:bodyPr>
            <a:noAutofit/>
          </a:bodyPr>
          <a:lstStyle/>
          <a:p>
            <a:r>
              <a:rPr lang="en-US" sz="3200" b="1" dirty="0"/>
              <a:t>Top State Performance : Revenue vs. Orders</a:t>
            </a:r>
            <a:endParaRPr lang="en-IN" sz="3200" b="1" dirty="0"/>
          </a:p>
        </p:txBody>
      </p:sp>
      <p:pic>
        <p:nvPicPr>
          <p:cNvPr id="1026" name="Picture 2">
            <a:extLst>
              <a:ext uri="{FF2B5EF4-FFF2-40B4-BE49-F238E27FC236}">
                <a16:creationId xmlns:a16="http://schemas.microsoft.com/office/drawing/2014/main" id="{E441519B-810B-5FC7-E51A-489147C3D3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535" y="1051591"/>
            <a:ext cx="7300452" cy="237740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400C9F6-9010-2929-B2E3-65A4A81167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535" y="3706761"/>
            <a:ext cx="7300452" cy="237740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1FCA11-CE0F-832A-7A86-665D7C497CB4}"/>
              </a:ext>
            </a:extLst>
          </p:cNvPr>
          <p:cNvSpPr txBox="1"/>
          <p:nvPr/>
        </p:nvSpPr>
        <p:spPr>
          <a:xfrm>
            <a:off x="8141109" y="2268312"/>
            <a:ext cx="3687098" cy="2308324"/>
          </a:xfrm>
          <a:prstGeom prst="rect">
            <a:avLst/>
          </a:prstGeom>
          <a:noFill/>
        </p:spPr>
        <p:txBody>
          <a:bodyPr wrap="square">
            <a:sp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California tops revenue &amp; orders.</a:t>
            </a:r>
            <a:br>
              <a:rPr lang="en-US" sz="1800" dirty="0">
                <a:effectLst/>
                <a:cs typeface="Poppins" panose="020B0604020202020204" charset="0"/>
              </a:rPr>
            </a:br>
            <a:endParaRPr lang="en-US" sz="1800"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IL, FL, TX: High in both.</a:t>
            </a:r>
            <a:br>
              <a:rPr lang="en-US" sz="1800" dirty="0">
                <a:effectLst/>
                <a:cs typeface="Poppins" panose="020B0604020202020204" charset="0"/>
              </a:rPr>
            </a:br>
            <a:endParaRPr lang="en-US" sz="1800"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Revenue &amp; orders linked.</a:t>
            </a:r>
            <a:br>
              <a:rPr lang="en-US" sz="1800" dirty="0">
                <a:effectLst/>
                <a:cs typeface="Poppins" panose="020B0604020202020204" charset="0"/>
              </a:rPr>
            </a:br>
            <a:endParaRPr lang="en-US" sz="1800"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Other top states: Lower contribution.</a:t>
            </a:r>
            <a:endParaRPr lang="en-US" sz="1800" b="0" i="0" u="none" strike="noStrike" cap="none" dirty="0">
              <a:solidFill>
                <a:schemeClr val="lt1"/>
              </a:solidFill>
              <a:ea typeface="Poppins"/>
              <a:cs typeface="Poppins" panose="020B0604020202020204" charset="0"/>
              <a:sym typeface="Poppins"/>
            </a:endParaRPr>
          </a:p>
        </p:txBody>
      </p:sp>
      <p:sp>
        <p:nvSpPr>
          <p:cNvPr id="6" name="TextBox 5">
            <a:extLst>
              <a:ext uri="{FF2B5EF4-FFF2-40B4-BE49-F238E27FC236}">
                <a16:creationId xmlns:a16="http://schemas.microsoft.com/office/drawing/2014/main" id="{0AE89632-C143-1D7E-CCB4-E2E8D2B1B341}"/>
              </a:ext>
            </a:extLst>
          </p:cNvPr>
          <p:cNvSpPr txBox="1"/>
          <p:nvPr/>
        </p:nvSpPr>
        <p:spPr>
          <a:xfrm>
            <a:off x="8141109" y="1349166"/>
            <a:ext cx="1602659" cy="400110"/>
          </a:xfrm>
          <a:prstGeom prst="rect">
            <a:avLst/>
          </a:prstGeom>
          <a:noFill/>
        </p:spPr>
        <p:txBody>
          <a:bodyPr wrap="square">
            <a:spAutoFit/>
          </a:bodyPr>
          <a:lstStyle/>
          <a:p>
            <a:r>
              <a:rPr lang="en-IN" sz="2000" b="1" dirty="0">
                <a:solidFill>
                  <a:schemeClr val="tx1">
                    <a:lumMod val="75000"/>
                    <a:lumOff val="25000"/>
                  </a:schemeClr>
                </a:solidFill>
              </a:rPr>
              <a:t>Insights</a:t>
            </a:r>
            <a:endParaRPr lang="en-IN" sz="2000" dirty="0"/>
          </a:p>
        </p:txBody>
      </p:sp>
      <p:sp>
        <p:nvSpPr>
          <p:cNvPr id="10" name="Slide Number Placeholder 9">
            <a:extLst>
              <a:ext uri="{FF2B5EF4-FFF2-40B4-BE49-F238E27FC236}">
                <a16:creationId xmlns:a16="http://schemas.microsoft.com/office/drawing/2014/main" id="{8AB2C330-7164-ED1D-E790-9D3110B5BB85}"/>
              </a:ext>
            </a:extLst>
          </p:cNvPr>
          <p:cNvSpPr>
            <a:spLocks noGrp="1"/>
          </p:cNvSpPr>
          <p:nvPr>
            <p:ph type="sldNum" sz="quarter" idx="12"/>
          </p:nvPr>
        </p:nvSpPr>
        <p:spPr>
          <a:xfrm>
            <a:off x="9338187" y="6492875"/>
            <a:ext cx="2743200" cy="365125"/>
          </a:xfrm>
        </p:spPr>
        <p:txBody>
          <a:bodyPr/>
          <a:lstStyle/>
          <a:p>
            <a:fld id="{4E3936FF-9C8C-4CFF-8FF1-ABF36B4C597A}" type="slidenum">
              <a:rPr lang="en-IN" smtClean="0"/>
              <a:t>11</a:t>
            </a:fld>
            <a:endParaRPr lang="en-IN" dirty="0"/>
          </a:p>
        </p:txBody>
      </p:sp>
    </p:spTree>
    <p:extLst>
      <p:ext uri="{BB962C8B-B14F-4D97-AF65-F5344CB8AC3E}">
        <p14:creationId xmlns:p14="http://schemas.microsoft.com/office/powerpoint/2010/main" val="1068107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E81A1-EF1E-A377-13BD-97A446D78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CD3FD-6988-8908-C144-82224229D4E3}"/>
              </a:ext>
            </a:extLst>
          </p:cNvPr>
          <p:cNvSpPr>
            <a:spLocks noGrp="1"/>
          </p:cNvSpPr>
          <p:nvPr>
            <p:ph type="title"/>
          </p:nvPr>
        </p:nvSpPr>
        <p:spPr>
          <a:xfrm>
            <a:off x="444910" y="227473"/>
            <a:ext cx="8207477" cy="637765"/>
          </a:xfrm>
        </p:spPr>
        <p:txBody>
          <a:bodyPr>
            <a:noAutofit/>
          </a:bodyPr>
          <a:lstStyle/>
          <a:p>
            <a:r>
              <a:rPr lang="en-US" sz="3200" b="1" dirty="0"/>
              <a:t>Top and Bottom 10 Customers by Revenue</a:t>
            </a:r>
            <a:endParaRPr lang="en-IN" sz="3200" b="1" dirty="0"/>
          </a:p>
        </p:txBody>
      </p:sp>
      <p:pic>
        <p:nvPicPr>
          <p:cNvPr id="8194" name="Picture 2">
            <a:extLst>
              <a:ext uri="{FF2B5EF4-FFF2-40B4-BE49-F238E27FC236}">
                <a16:creationId xmlns:a16="http://schemas.microsoft.com/office/drawing/2014/main" id="{240CE091-14D0-07BE-C35E-25666EE1D5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41" y="998794"/>
            <a:ext cx="10284543" cy="29931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A8C5E1B-308C-E9E0-5343-49182B5BD79A}"/>
              </a:ext>
            </a:extLst>
          </p:cNvPr>
          <p:cNvSpPr txBox="1"/>
          <p:nvPr/>
        </p:nvSpPr>
        <p:spPr>
          <a:xfrm>
            <a:off x="1089537" y="5030126"/>
            <a:ext cx="10012926" cy="1200329"/>
          </a:xfrm>
          <a:prstGeom prst="rect">
            <a:avLst/>
          </a:prstGeom>
          <a:noFill/>
        </p:spPr>
        <p:txBody>
          <a:bodyPr wrap="square">
            <a:sp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err="1">
                <a:effectLst/>
                <a:cs typeface="Poppins" panose="020B0604020202020204" charset="0"/>
              </a:rPr>
              <a:t>Aibox</a:t>
            </a:r>
            <a:r>
              <a:rPr lang="en-US" sz="1800" dirty="0">
                <a:effectLst/>
                <a:cs typeface="Poppins" panose="020B0604020202020204" charset="0"/>
              </a:rPr>
              <a:t> Company leads significantly as the top revenue generator.</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Bottom 10 customers generate substantially less revenue (around $4-5M).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Revenue concentration: Top customers drive a disproportionate share.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US" sz="1800" dirty="0">
                <a:effectLst/>
                <a:cs typeface="Poppins" panose="020B0604020202020204" charset="0"/>
              </a:rPr>
              <a:t>Large gap: Exists between the revenue of top and bottom tier customers.</a:t>
            </a:r>
            <a:endParaRPr lang="en-US" sz="1800" b="0" i="0" u="none" strike="noStrike" cap="none" dirty="0">
              <a:solidFill>
                <a:schemeClr val="lt1"/>
              </a:solidFill>
              <a:ea typeface="Poppins"/>
              <a:cs typeface="Poppins" panose="020B0604020202020204" charset="0"/>
              <a:sym typeface="Poppins"/>
            </a:endParaRPr>
          </a:p>
        </p:txBody>
      </p:sp>
      <p:sp>
        <p:nvSpPr>
          <p:cNvPr id="6" name="TextBox 5">
            <a:extLst>
              <a:ext uri="{FF2B5EF4-FFF2-40B4-BE49-F238E27FC236}">
                <a16:creationId xmlns:a16="http://schemas.microsoft.com/office/drawing/2014/main" id="{111F0847-9865-0627-B996-130A7BAA715F}"/>
              </a:ext>
            </a:extLst>
          </p:cNvPr>
          <p:cNvSpPr txBox="1"/>
          <p:nvPr/>
        </p:nvSpPr>
        <p:spPr>
          <a:xfrm>
            <a:off x="1089537" y="4406999"/>
            <a:ext cx="6096000" cy="400110"/>
          </a:xfrm>
          <a:prstGeom prst="rect">
            <a:avLst/>
          </a:prstGeom>
          <a:noFill/>
        </p:spPr>
        <p:txBody>
          <a:bodyPr wrap="square">
            <a:spAutoFit/>
          </a:bodyPr>
          <a:lstStyle/>
          <a:p>
            <a:r>
              <a:rPr lang="en-IN" sz="2000" b="1" dirty="0">
                <a:solidFill>
                  <a:schemeClr val="tx1">
                    <a:lumMod val="75000"/>
                    <a:lumOff val="25000"/>
                  </a:schemeClr>
                </a:solidFill>
              </a:rPr>
              <a:t>Insights</a:t>
            </a:r>
            <a:endParaRPr lang="en-IN" sz="2000" dirty="0"/>
          </a:p>
        </p:txBody>
      </p:sp>
      <p:sp>
        <p:nvSpPr>
          <p:cNvPr id="10" name="Slide Number Placeholder 9">
            <a:extLst>
              <a:ext uri="{FF2B5EF4-FFF2-40B4-BE49-F238E27FC236}">
                <a16:creationId xmlns:a16="http://schemas.microsoft.com/office/drawing/2014/main" id="{F966BD0F-9409-A9F2-EFF3-757322436ED2}"/>
              </a:ext>
            </a:extLst>
          </p:cNvPr>
          <p:cNvSpPr>
            <a:spLocks noGrp="1"/>
          </p:cNvSpPr>
          <p:nvPr>
            <p:ph type="sldNum" sz="quarter" idx="12"/>
          </p:nvPr>
        </p:nvSpPr>
        <p:spPr>
          <a:xfrm>
            <a:off x="9338187" y="6492875"/>
            <a:ext cx="2743200" cy="365125"/>
          </a:xfrm>
        </p:spPr>
        <p:txBody>
          <a:bodyPr/>
          <a:lstStyle/>
          <a:p>
            <a:fld id="{4E3936FF-9C8C-4CFF-8FF1-ABF36B4C597A}" type="slidenum">
              <a:rPr lang="en-IN" smtClean="0"/>
              <a:t>12</a:t>
            </a:fld>
            <a:endParaRPr lang="en-IN"/>
          </a:p>
        </p:txBody>
      </p:sp>
    </p:spTree>
    <p:extLst>
      <p:ext uri="{BB962C8B-B14F-4D97-AF65-F5344CB8AC3E}">
        <p14:creationId xmlns:p14="http://schemas.microsoft.com/office/powerpoint/2010/main" val="3240849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1DCEF-49AF-A8C7-C4E4-11F02B3E6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BB3AD-E4BF-8012-9106-A7F724F10FE4}"/>
              </a:ext>
            </a:extLst>
          </p:cNvPr>
          <p:cNvSpPr>
            <a:spLocks noGrp="1"/>
          </p:cNvSpPr>
          <p:nvPr>
            <p:ph type="title"/>
          </p:nvPr>
        </p:nvSpPr>
        <p:spPr>
          <a:xfrm>
            <a:off x="661220" y="266802"/>
            <a:ext cx="9485670" cy="608269"/>
          </a:xfrm>
        </p:spPr>
        <p:txBody>
          <a:bodyPr>
            <a:noAutofit/>
          </a:bodyPr>
          <a:lstStyle/>
          <a:p>
            <a:r>
              <a:rPr lang="en-US" sz="3200" b="1" dirty="0"/>
              <a:t>Customer Segmentation: Revenue vs. Profit Margin</a:t>
            </a:r>
            <a:endParaRPr lang="en-IN" sz="3200" b="1" dirty="0"/>
          </a:p>
        </p:txBody>
      </p:sp>
      <p:pic>
        <p:nvPicPr>
          <p:cNvPr id="10242" name="Picture 2">
            <a:extLst>
              <a:ext uri="{FF2B5EF4-FFF2-40B4-BE49-F238E27FC236}">
                <a16:creationId xmlns:a16="http://schemas.microsoft.com/office/drawing/2014/main" id="{EF24281C-6816-5F1A-01A6-FF4CCF273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220" y="1317521"/>
            <a:ext cx="5434780" cy="45720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7275335-5772-FB99-81EF-2B682B288CEA}"/>
              </a:ext>
            </a:extLst>
          </p:cNvPr>
          <p:cNvSpPr txBox="1"/>
          <p:nvPr/>
        </p:nvSpPr>
        <p:spPr>
          <a:xfrm>
            <a:off x="6843253" y="1285188"/>
            <a:ext cx="1229032" cy="400110"/>
          </a:xfrm>
          <a:prstGeom prst="rect">
            <a:avLst/>
          </a:prstGeom>
          <a:noFill/>
        </p:spPr>
        <p:txBody>
          <a:bodyPr wrap="square">
            <a:spAutoFit/>
          </a:bodyPr>
          <a:lstStyle/>
          <a:p>
            <a:r>
              <a:rPr lang="en-IN" sz="2000" b="1" dirty="0">
                <a:solidFill>
                  <a:schemeClr val="tx1">
                    <a:lumMod val="75000"/>
                    <a:lumOff val="25000"/>
                  </a:schemeClr>
                </a:solidFill>
              </a:rPr>
              <a:t>Insights</a:t>
            </a:r>
            <a:endParaRPr lang="en-IN" sz="2000" dirty="0"/>
          </a:p>
        </p:txBody>
      </p:sp>
      <p:sp>
        <p:nvSpPr>
          <p:cNvPr id="6" name="TextBox 5">
            <a:extLst>
              <a:ext uri="{FF2B5EF4-FFF2-40B4-BE49-F238E27FC236}">
                <a16:creationId xmlns:a16="http://schemas.microsoft.com/office/drawing/2014/main" id="{D03FD1DC-85F5-4313-5D89-9BDC6B0FF4E6}"/>
              </a:ext>
            </a:extLst>
          </p:cNvPr>
          <p:cNvSpPr txBox="1"/>
          <p:nvPr/>
        </p:nvSpPr>
        <p:spPr>
          <a:xfrm>
            <a:off x="6489291" y="1799167"/>
            <a:ext cx="4414683" cy="3416320"/>
          </a:xfrm>
          <a:prstGeom prst="rect">
            <a:avLst/>
          </a:prstGeom>
          <a:noFill/>
        </p:spPr>
        <p:txBody>
          <a:bodyPr wrap="square">
            <a:spAutoFit/>
          </a:bodyPr>
          <a:lstStyle/>
          <a:p>
            <a:pPr marR="0" lvl="0" rtl="0">
              <a:lnSpc>
                <a:spcPct val="100000"/>
              </a:lnSpc>
              <a:spcBef>
                <a:spcPts val="0"/>
              </a:spcBef>
              <a:spcAft>
                <a:spcPts val="0"/>
              </a:spcAft>
              <a:buClr>
                <a:srgbClr val="000000"/>
              </a:buClr>
              <a:buSzPts val="1800"/>
            </a:pPr>
            <a:endParaRPr lang="en-GB" sz="18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effectLst/>
                <a:cs typeface="Poppins" panose="020B0604020202020204" charset="0"/>
              </a:rPr>
              <a:t>Those Uniform 35–40 % margins confirm strong, consistent pricing and cost control.</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dirty="0">
              <a:effectLst/>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effectLst/>
                <a:cs typeface="Poppins" panose="020B0604020202020204" charset="0"/>
              </a:rPr>
              <a:t>&gt;$10 M clients with &lt;36 % margins reveal discounting hotspots—re evaluate large‑account terms.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dirty="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dirty="0">
                <a:effectLst/>
                <a:cs typeface="Poppins" panose="020B0604020202020204" charset="0"/>
              </a:rPr>
              <a:t>$6–9 M clients with &gt;40 % margins are high‑value candidates for targeted upsell.</a:t>
            </a:r>
            <a:endParaRPr lang="en-GB" b="0" i="0" u="none" strike="noStrike" cap="none" dirty="0">
              <a:solidFill>
                <a:schemeClr val="lt1"/>
              </a:solidFill>
              <a:ea typeface="Poppins"/>
              <a:cs typeface="Poppins" panose="020B0604020202020204" charset="0"/>
              <a:sym typeface="Poppins"/>
            </a:endParaRPr>
          </a:p>
        </p:txBody>
      </p:sp>
      <p:sp>
        <p:nvSpPr>
          <p:cNvPr id="10" name="Slide Number Placeholder 9">
            <a:extLst>
              <a:ext uri="{FF2B5EF4-FFF2-40B4-BE49-F238E27FC236}">
                <a16:creationId xmlns:a16="http://schemas.microsoft.com/office/drawing/2014/main" id="{B0D105B4-8E35-3C14-1624-C165FB5AE04A}"/>
              </a:ext>
            </a:extLst>
          </p:cNvPr>
          <p:cNvSpPr>
            <a:spLocks noGrp="1"/>
          </p:cNvSpPr>
          <p:nvPr>
            <p:ph type="sldNum" sz="quarter" idx="12"/>
          </p:nvPr>
        </p:nvSpPr>
        <p:spPr>
          <a:xfrm>
            <a:off x="9340645" y="6492875"/>
            <a:ext cx="2743200" cy="365125"/>
          </a:xfrm>
        </p:spPr>
        <p:txBody>
          <a:bodyPr/>
          <a:lstStyle/>
          <a:p>
            <a:fld id="{4E3936FF-9C8C-4CFF-8FF1-ABF36B4C597A}" type="slidenum">
              <a:rPr lang="en-IN" smtClean="0"/>
              <a:t>13</a:t>
            </a:fld>
            <a:endParaRPr lang="en-IN" dirty="0"/>
          </a:p>
        </p:txBody>
      </p:sp>
    </p:spTree>
    <p:extLst>
      <p:ext uri="{BB962C8B-B14F-4D97-AF65-F5344CB8AC3E}">
        <p14:creationId xmlns:p14="http://schemas.microsoft.com/office/powerpoint/2010/main" val="3362425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D90AA-DAA3-B244-AC9A-1CB0B800E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07EB7-62FC-749D-D036-DED27255C54A}"/>
              </a:ext>
            </a:extLst>
          </p:cNvPr>
          <p:cNvSpPr>
            <a:spLocks noGrp="1"/>
          </p:cNvSpPr>
          <p:nvPr>
            <p:ph type="title"/>
          </p:nvPr>
        </p:nvSpPr>
        <p:spPr>
          <a:xfrm>
            <a:off x="690716" y="315965"/>
            <a:ext cx="6742471" cy="657430"/>
          </a:xfrm>
        </p:spPr>
        <p:txBody>
          <a:bodyPr>
            <a:noAutofit/>
          </a:bodyPr>
          <a:lstStyle/>
          <a:p>
            <a:r>
              <a:rPr lang="en-US" sz="3200" b="1" dirty="0"/>
              <a:t>Correlation  Heatmap of Numeric </a:t>
            </a:r>
            <a:endParaRPr lang="en-IN" sz="3200" b="1" dirty="0"/>
          </a:p>
        </p:txBody>
      </p:sp>
      <p:pic>
        <p:nvPicPr>
          <p:cNvPr id="9218" name="Picture 2">
            <a:extLst>
              <a:ext uri="{FF2B5EF4-FFF2-40B4-BE49-F238E27FC236}">
                <a16:creationId xmlns:a16="http://schemas.microsoft.com/office/drawing/2014/main" id="{C524079D-9CB8-BC76-FB7D-11C6445F19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716" y="1474839"/>
            <a:ext cx="5506217" cy="43741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086A9F5-BE32-184E-EBC9-E94D4BD4E513}"/>
              </a:ext>
            </a:extLst>
          </p:cNvPr>
          <p:cNvSpPr txBox="1"/>
          <p:nvPr/>
        </p:nvSpPr>
        <p:spPr>
          <a:xfrm>
            <a:off x="6902245" y="1474839"/>
            <a:ext cx="4493342" cy="4801314"/>
          </a:xfrm>
          <a:prstGeom prst="rect">
            <a:avLst/>
          </a:prstGeom>
          <a:noFill/>
        </p:spPr>
        <p:txBody>
          <a:bodyPr wrap="square" rtlCol="0">
            <a:spAutoFit/>
          </a:bodyPr>
          <a:lstStyle/>
          <a:p>
            <a:pPr marL="342900" lvl="0" indent="-342900">
              <a:buClr>
                <a:srgbClr val="000000"/>
              </a:buClr>
              <a:buSzPts val="1800"/>
              <a:buFont typeface="Arial" panose="020B0604020202020204" pitchFamily="34" charset="0"/>
              <a:buChar char="•"/>
            </a:pPr>
            <a:r>
              <a:rPr lang="en-GB" dirty="0">
                <a:cs typeface="Poppins" panose="020B0604020202020204" charset="0"/>
              </a:rPr>
              <a:t>Unit price is the primary driver, showing very strong correlations with cost (0.94), revenue (0.91) and profit (0.79).</a:t>
            </a:r>
          </a:p>
          <a:p>
            <a:pPr marL="342900" lvl="0" indent="-342900">
              <a:buClr>
                <a:srgbClr val="000000"/>
              </a:buClr>
              <a:buSzPts val="1800"/>
              <a:buFont typeface="Arial" panose="020B0604020202020204" pitchFamily="34" charset="0"/>
              <a:buChar char="•"/>
            </a:pPr>
            <a:endParaRPr lang="en-GB" dirty="0">
              <a:cs typeface="Poppins" panose="020B0604020202020204" charset="0"/>
            </a:endParaRPr>
          </a:p>
          <a:p>
            <a:pPr marL="342900" lvl="0" indent="-342900">
              <a:buClr>
                <a:srgbClr val="000000"/>
              </a:buClr>
              <a:buSzPts val="1800"/>
              <a:buFont typeface="Arial" panose="020B0604020202020204" pitchFamily="34" charset="0"/>
              <a:buChar char="•"/>
            </a:pPr>
            <a:r>
              <a:rPr lang="en-GB" dirty="0">
                <a:cs typeface="Poppins" panose="020B0604020202020204" charset="0"/>
              </a:rPr>
              <a:t>Revenue &amp; profit maintain a high link (0.87), underscoring direct profitability gains.</a:t>
            </a:r>
          </a:p>
          <a:p>
            <a:pPr marL="342900" lvl="0" indent="-342900">
              <a:buClr>
                <a:srgbClr val="000000"/>
              </a:buClr>
              <a:buSzPts val="1800"/>
              <a:buFont typeface="Arial" panose="020B0604020202020204" pitchFamily="34" charset="0"/>
              <a:buChar char="•"/>
            </a:pPr>
            <a:endParaRPr lang="en-GB" dirty="0">
              <a:cs typeface="Poppins" panose="020B0604020202020204" charset="0"/>
            </a:endParaRPr>
          </a:p>
          <a:p>
            <a:pPr marL="342900" lvl="0" indent="-342900">
              <a:buClr>
                <a:srgbClr val="000000"/>
              </a:buClr>
              <a:buSzPts val="1800"/>
              <a:buFont typeface="Arial" panose="020B0604020202020204" pitchFamily="34" charset="0"/>
              <a:buChar char="•"/>
            </a:pPr>
            <a:r>
              <a:rPr lang="en-GB" dirty="0">
                <a:cs typeface="Poppins" panose="020B0604020202020204" charset="0"/>
              </a:rPr>
              <a:t>Quantity’s impact is minimal (≤ 0.34 vs. financials), indicating volume plays a secondary role.</a:t>
            </a:r>
          </a:p>
          <a:p>
            <a:pPr marL="342900" lvl="0" indent="-342900">
              <a:buClr>
                <a:srgbClr val="000000"/>
              </a:buClr>
              <a:buSzPts val="1800"/>
              <a:buFont typeface="Arial" panose="020B0604020202020204" pitchFamily="34" charset="0"/>
              <a:buChar char="•"/>
            </a:pPr>
            <a:endParaRPr lang="en-GB" dirty="0">
              <a:cs typeface="Poppins" panose="020B0604020202020204" charset="0"/>
            </a:endParaRPr>
          </a:p>
          <a:p>
            <a:pPr marL="342900" lvl="0" indent="-342900">
              <a:buClr>
                <a:srgbClr val="000000"/>
              </a:buClr>
              <a:buSzPts val="1800"/>
              <a:buFont typeface="Arial" panose="020B0604020202020204" pitchFamily="34" charset="0"/>
              <a:buChar char="•"/>
            </a:pPr>
            <a:r>
              <a:rPr lang="en-GB" dirty="0">
                <a:cs typeface="Poppins" panose="020B0604020202020204" charset="0"/>
              </a:rPr>
              <a:t>Cost vs. profit correlation (0.58) is moderate, suggesting margin improvement focus should </a:t>
            </a:r>
            <a:r>
              <a:rPr lang="en-GB" dirty="0" err="1">
                <a:cs typeface="Poppins" panose="020B0604020202020204" charset="0"/>
              </a:rPr>
              <a:t>center</a:t>
            </a:r>
            <a:r>
              <a:rPr lang="en-GB" dirty="0">
                <a:cs typeface="Poppins" panose="020B0604020202020204" charset="0"/>
              </a:rPr>
              <a:t> on pricing.</a:t>
            </a:r>
            <a:endParaRPr lang="en-GB" dirty="0">
              <a:solidFill>
                <a:schemeClr val="lt1"/>
              </a:solidFill>
              <a:ea typeface="Poppins"/>
              <a:cs typeface="Poppins" panose="020B0604020202020204" charset="0"/>
              <a:sym typeface="Poppins"/>
            </a:endParaRPr>
          </a:p>
          <a:p>
            <a:endParaRPr lang="en-IN" dirty="0"/>
          </a:p>
        </p:txBody>
      </p:sp>
      <p:sp>
        <p:nvSpPr>
          <p:cNvPr id="4" name="TextBox 3">
            <a:extLst>
              <a:ext uri="{FF2B5EF4-FFF2-40B4-BE49-F238E27FC236}">
                <a16:creationId xmlns:a16="http://schemas.microsoft.com/office/drawing/2014/main" id="{795441EF-EC4E-2740-C234-D481278C48BB}"/>
              </a:ext>
            </a:extLst>
          </p:cNvPr>
          <p:cNvSpPr txBox="1"/>
          <p:nvPr/>
        </p:nvSpPr>
        <p:spPr>
          <a:xfrm>
            <a:off x="7182464" y="669928"/>
            <a:ext cx="1966452" cy="677108"/>
          </a:xfrm>
          <a:prstGeom prst="rect">
            <a:avLst/>
          </a:prstGeom>
          <a:noFill/>
        </p:spPr>
        <p:txBody>
          <a:bodyPr wrap="square" rtlCol="0">
            <a:spAutoFit/>
          </a:bodyPr>
          <a:lstStyle/>
          <a:p>
            <a:endParaRPr lang="en-IN" b="1" dirty="0">
              <a:solidFill>
                <a:schemeClr val="tx1">
                  <a:lumMod val="50000"/>
                  <a:lumOff val="50000"/>
                </a:schemeClr>
              </a:solidFill>
            </a:endParaRPr>
          </a:p>
          <a:p>
            <a:r>
              <a:rPr lang="en-IN" sz="2000" b="1" dirty="0">
                <a:solidFill>
                  <a:schemeClr val="tx1">
                    <a:lumMod val="75000"/>
                    <a:lumOff val="25000"/>
                  </a:schemeClr>
                </a:solidFill>
              </a:rPr>
              <a:t>Insights</a:t>
            </a:r>
          </a:p>
        </p:txBody>
      </p:sp>
      <p:sp>
        <p:nvSpPr>
          <p:cNvPr id="8" name="Slide Number Placeholder 7">
            <a:extLst>
              <a:ext uri="{FF2B5EF4-FFF2-40B4-BE49-F238E27FC236}">
                <a16:creationId xmlns:a16="http://schemas.microsoft.com/office/drawing/2014/main" id="{17E9BE85-127E-8BCB-D118-18A7A35679BD}"/>
              </a:ext>
            </a:extLst>
          </p:cNvPr>
          <p:cNvSpPr>
            <a:spLocks noGrp="1"/>
          </p:cNvSpPr>
          <p:nvPr>
            <p:ph type="sldNum" sz="quarter" idx="12"/>
          </p:nvPr>
        </p:nvSpPr>
        <p:spPr>
          <a:xfrm>
            <a:off x="9348019" y="6492875"/>
            <a:ext cx="2743200" cy="365125"/>
          </a:xfrm>
        </p:spPr>
        <p:txBody>
          <a:bodyPr/>
          <a:lstStyle/>
          <a:p>
            <a:fld id="{4E3936FF-9C8C-4CFF-8FF1-ABF36B4C597A}" type="slidenum">
              <a:rPr lang="en-IN" smtClean="0"/>
              <a:t>14</a:t>
            </a:fld>
            <a:endParaRPr lang="en-IN" dirty="0"/>
          </a:p>
        </p:txBody>
      </p:sp>
    </p:spTree>
    <p:extLst>
      <p:ext uri="{BB962C8B-B14F-4D97-AF65-F5344CB8AC3E}">
        <p14:creationId xmlns:p14="http://schemas.microsoft.com/office/powerpoint/2010/main" val="2347355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D1158-F876-B309-FB29-9B86E9E8F2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AE2909-68EF-7A09-4E4A-63FD60C335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07161"/>
          </a:xfrm>
          <a:prstGeom prst="rect">
            <a:avLst/>
          </a:prstGeom>
        </p:spPr>
      </p:pic>
      <p:sp>
        <p:nvSpPr>
          <p:cNvPr id="4" name="TextBox 3">
            <a:extLst>
              <a:ext uri="{FF2B5EF4-FFF2-40B4-BE49-F238E27FC236}">
                <a16:creationId xmlns:a16="http://schemas.microsoft.com/office/drawing/2014/main" id="{F75C20F1-FB88-AE50-9465-FC820EA656E9}"/>
              </a:ext>
            </a:extLst>
          </p:cNvPr>
          <p:cNvSpPr txBox="1"/>
          <p:nvPr/>
        </p:nvSpPr>
        <p:spPr>
          <a:xfrm>
            <a:off x="1740309" y="2576051"/>
            <a:ext cx="6597446" cy="923330"/>
          </a:xfrm>
          <a:prstGeom prst="rect">
            <a:avLst/>
          </a:prstGeom>
          <a:noFill/>
        </p:spPr>
        <p:txBody>
          <a:bodyPr wrap="square" rtlCol="0">
            <a:spAutoFit/>
          </a:bodyPr>
          <a:lstStyle/>
          <a:p>
            <a:r>
              <a:rPr lang="en-US" sz="5400" b="1" dirty="0"/>
              <a:t>Key Insights</a:t>
            </a:r>
            <a:endParaRPr lang="en-IN" sz="5400" b="1" dirty="0"/>
          </a:p>
        </p:txBody>
      </p:sp>
      <p:sp>
        <p:nvSpPr>
          <p:cNvPr id="7" name="Slide Number Placeholder 6">
            <a:extLst>
              <a:ext uri="{FF2B5EF4-FFF2-40B4-BE49-F238E27FC236}">
                <a16:creationId xmlns:a16="http://schemas.microsoft.com/office/drawing/2014/main" id="{05BBF63D-BBB4-C0E6-1D6B-85B722CE06BC}"/>
              </a:ext>
            </a:extLst>
          </p:cNvPr>
          <p:cNvSpPr>
            <a:spLocks noGrp="1"/>
          </p:cNvSpPr>
          <p:nvPr>
            <p:ph type="sldNum" sz="quarter" idx="12"/>
          </p:nvPr>
        </p:nvSpPr>
        <p:spPr>
          <a:xfrm>
            <a:off x="9289025" y="6492875"/>
            <a:ext cx="2743200" cy="365125"/>
          </a:xfrm>
        </p:spPr>
        <p:txBody>
          <a:bodyPr/>
          <a:lstStyle/>
          <a:p>
            <a:fld id="{4E3936FF-9C8C-4CFF-8FF1-ABF36B4C597A}" type="slidenum">
              <a:rPr lang="en-IN" smtClean="0"/>
              <a:t>15</a:t>
            </a:fld>
            <a:endParaRPr lang="en-IN" dirty="0"/>
          </a:p>
        </p:txBody>
      </p:sp>
    </p:spTree>
    <p:extLst>
      <p:ext uri="{BB962C8B-B14F-4D97-AF65-F5344CB8AC3E}">
        <p14:creationId xmlns:p14="http://schemas.microsoft.com/office/powerpoint/2010/main" val="2292506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A2503-DA00-393D-8BF1-267A101D6597}"/>
              </a:ext>
            </a:extLst>
          </p:cNvPr>
          <p:cNvSpPr>
            <a:spLocks noGrp="1"/>
          </p:cNvSpPr>
          <p:nvPr>
            <p:ph type="title"/>
          </p:nvPr>
        </p:nvSpPr>
        <p:spPr>
          <a:xfrm>
            <a:off x="2349910" y="365125"/>
            <a:ext cx="3057832" cy="1080217"/>
          </a:xfrm>
        </p:spPr>
        <p:txBody>
          <a:bodyPr>
            <a:normAutofit/>
          </a:bodyPr>
          <a:lstStyle/>
          <a:p>
            <a:r>
              <a:rPr lang="en-US" sz="3600" b="1" dirty="0"/>
              <a:t>Key Insights</a:t>
            </a:r>
            <a:endParaRPr lang="en-IN" sz="3600" b="1" dirty="0"/>
          </a:p>
        </p:txBody>
      </p:sp>
      <p:sp>
        <p:nvSpPr>
          <p:cNvPr id="3" name="Content Placeholder 2">
            <a:extLst>
              <a:ext uri="{FF2B5EF4-FFF2-40B4-BE49-F238E27FC236}">
                <a16:creationId xmlns:a16="http://schemas.microsoft.com/office/drawing/2014/main" id="{9297E565-D9E0-F1C7-3A55-D5A5278F6FC0}"/>
              </a:ext>
            </a:extLst>
          </p:cNvPr>
          <p:cNvSpPr>
            <a:spLocks noGrp="1"/>
          </p:cNvSpPr>
          <p:nvPr>
            <p:ph idx="1"/>
          </p:nvPr>
        </p:nvSpPr>
        <p:spPr>
          <a:xfrm>
            <a:off x="2349908" y="1815793"/>
            <a:ext cx="9003891" cy="4351338"/>
          </a:xfrm>
        </p:spPr>
        <p:txBody>
          <a:bodyPr>
            <a:normAutofit/>
          </a:bodyPr>
          <a:lstStyle/>
          <a:p>
            <a:r>
              <a:rPr lang="en-GB" sz="2000" dirty="0">
                <a:cs typeface="MV Boli" panose="02000500030200090000" pitchFamily="2" charset="0"/>
              </a:rPr>
              <a:t>Pronounced Seasonality: January revenues average $124 M, dipping to $95 M in April.</a:t>
            </a:r>
            <a:br>
              <a:rPr lang="en-GB" sz="2000" dirty="0">
                <a:cs typeface="MV Boli" panose="02000500030200090000" pitchFamily="2" charset="0"/>
              </a:rPr>
            </a:br>
            <a:endParaRPr lang="en-GB" sz="2000" dirty="0">
              <a:cs typeface="MV Boli" panose="02000500030200090000" pitchFamily="2" charset="0"/>
            </a:endParaRPr>
          </a:p>
          <a:p>
            <a:r>
              <a:rPr lang="en-GB" sz="2000" dirty="0">
                <a:cs typeface="MV Boli" panose="02000500030200090000" pitchFamily="2" charset="0"/>
              </a:rPr>
              <a:t>SKU Concentration: Products 26 &amp; 25 together drive ~25 % of total sales.</a:t>
            </a:r>
            <a:br>
              <a:rPr lang="en-GB" sz="2000" dirty="0">
                <a:cs typeface="MV Boli" panose="02000500030200090000" pitchFamily="2" charset="0"/>
              </a:rPr>
            </a:br>
            <a:endParaRPr lang="en-GB" sz="2000" dirty="0">
              <a:cs typeface="MV Boli" panose="02000500030200090000" pitchFamily="2" charset="0"/>
            </a:endParaRPr>
          </a:p>
          <a:p>
            <a:r>
              <a:rPr lang="en-GB" sz="2000" dirty="0">
                <a:cs typeface="MV Boli" panose="02000500030200090000" pitchFamily="2" charset="0"/>
              </a:rPr>
              <a:t>Channel Trade‑Off: Wholesale captures 54 % of volume; Export leads with ~38 % average margin.</a:t>
            </a:r>
            <a:br>
              <a:rPr lang="en-GB" sz="2000" dirty="0">
                <a:cs typeface="MV Boli" panose="02000500030200090000" pitchFamily="2" charset="0"/>
              </a:rPr>
            </a:br>
            <a:endParaRPr lang="en-GB" sz="2000" dirty="0">
              <a:cs typeface="MV Boli" panose="02000500030200090000" pitchFamily="2" charset="0"/>
            </a:endParaRPr>
          </a:p>
          <a:p>
            <a:r>
              <a:rPr lang="en-GB" sz="2000" dirty="0">
                <a:cs typeface="MV Boli" panose="02000500030200090000" pitchFamily="2" charset="0"/>
              </a:rPr>
              <a:t>Geographic Dominance: California alone logs 7.6K orders ($230 M); the West region shows the largest swings.</a:t>
            </a:r>
            <a:br>
              <a:rPr lang="en-GB" sz="2000" dirty="0">
                <a:cs typeface="MV Boli" panose="02000500030200090000" pitchFamily="2" charset="0"/>
              </a:rPr>
            </a:br>
            <a:endParaRPr lang="en-GB" sz="2000" dirty="0">
              <a:cs typeface="MV Boli" panose="02000500030200090000" pitchFamily="2" charset="0"/>
            </a:endParaRPr>
          </a:p>
          <a:p>
            <a:r>
              <a:rPr lang="en-GB" sz="2000" dirty="0" err="1">
                <a:cs typeface="MV Boli" panose="02000500030200090000" pitchFamily="2" charset="0"/>
              </a:rPr>
              <a:t>Aibox</a:t>
            </a:r>
            <a:r>
              <a:rPr lang="en-GB" sz="2000" dirty="0">
                <a:cs typeface="MV Boli" panose="02000500030200090000" pitchFamily="2" charset="0"/>
              </a:rPr>
              <a:t> Company and State Ltd are the most valuable customers in terms of Revenue.</a:t>
            </a:r>
            <a:endParaRPr lang="en-IN" sz="2000" dirty="0">
              <a:cs typeface="MV Boli" panose="02000500030200090000" pitchFamily="2" charset="0"/>
            </a:endParaRPr>
          </a:p>
          <a:p>
            <a:endParaRPr lang="en-IN" sz="2000" dirty="0">
              <a:cs typeface="MV Boli" panose="02000500030200090000" pitchFamily="2" charset="0"/>
            </a:endParaRPr>
          </a:p>
        </p:txBody>
      </p:sp>
      <p:sp>
        <p:nvSpPr>
          <p:cNvPr id="4" name="Rectangle 3">
            <a:extLst>
              <a:ext uri="{FF2B5EF4-FFF2-40B4-BE49-F238E27FC236}">
                <a16:creationId xmlns:a16="http://schemas.microsoft.com/office/drawing/2014/main" id="{7E122A63-4674-27CD-BAA5-A5F1368FED7A}"/>
              </a:ext>
            </a:extLst>
          </p:cNvPr>
          <p:cNvSpPr/>
          <p:nvPr/>
        </p:nvSpPr>
        <p:spPr>
          <a:xfrm>
            <a:off x="0" y="0"/>
            <a:ext cx="2054942" cy="68580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lide Number Placeholder 7">
            <a:extLst>
              <a:ext uri="{FF2B5EF4-FFF2-40B4-BE49-F238E27FC236}">
                <a16:creationId xmlns:a16="http://schemas.microsoft.com/office/drawing/2014/main" id="{E8A6819E-56D1-1BBF-8DB0-3F30B6D5E818}"/>
              </a:ext>
            </a:extLst>
          </p:cNvPr>
          <p:cNvSpPr>
            <a:spLocks noGrp="1"/>
          </p:cNvSpPr>
          <p:nvPr>
            <p:ph type="sldNum" sz="quarter" idx="12"/>
          </p:nvPr>
        </p:nvSpPr>
        <p:spPr>
          <a:xfrm>
            <a:off x="9338186" y="6492875"/>
            <a:ext cx="2743200" cy="365125"/>
          </a:xfrm>
        </p:spPr>
        <p:txBody>
          <a:bodyPr/>
          <a:lstStyle/>
          <a:p>
            <a:fld id="{4E3936FF-9C8C-4CFF-8FF1-ABF36B4C597A}" type="slidenum">
              <a:rPr lang="en-IN" smtClean="0"/>
              <a:t>16</a:t>
            </a:fld>
            <a:endParaRPr lang="en-IN"/>
          </a:p>
        </p:txBody>
      </p:sp>
    </p:spTree>
    <p:extLst>
      <p:ext uri="{BB962C8B-B14F-4D97-AF65-F5344CB8AC3E}">
        <p14:creationId xmlns:p14="http://schemas.microsoft.com/office/powerpoint/2010/main" val="183006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E9F3F-2C52-E813-3967-30882826F6B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057A4AD-69F4-A104-3F6F-44132F5CD4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07161"/>
          </a:xfrm>
          <a:prstGeom prst="rect">
            <a:avLst/>
          </a:prstGeom>
        </p:spPr>
      </p:pic>
      <p:sp>
        <p:nvSpPr>
          <p:cNvPr id="4" name="TextBox 3">
            <a:extLst>
              <a:ext uri="{FF2B5EF4-FFF2-40B4-BE49-F238E27FC236}">
                <a16:creationId xmlns:a16="http://schemas.microsoft.com/office/drawing/2014/main" id="{F9ACC400-3B19-E049-7DBF-F5F51938812A}"/>
              </a:ext>
            </a:extLst>
          </p:cNvPr>
          <p:cNvSpPr txBox="1"/>
          <p:nvPr/>
        </p:nvSpPr>
        <p:spPr>
          <a:xfrm>
            <a:off x="1740309" y="2576051"/>
            <a:ext cx="6597446" cy="923330"/>
          </a:xfrm>
          <a:prstGeom prst="rect">
            <a:avLst/>
          </a:prstGeom>
          <a:noFill/>
        </p:spPr>
        <p:txBody>
          <a:bodyPr wrap="square" rtlCol="0">
            <a:spAutoFit/>
          </a:bodyPr>
          <a:lstStyle/>
          <a:p>
            <a:r>
              <a:rPr lang="en-US" sz="5400" b="1" dirty="0"/>
              <a:t>Recommendations</a:t>
            </a:r>
            <a:endParaRPr lang="en-IN" sz="5400" b="1" dirty="0"/>
          </a:p>
        </p:txBody>
      </p:sp>
      <p:sp>
        <p:nvSpPr>
          <p:cNvPr id="7" name="Slide Number Placeholder 6">
            <a:extLst>
              <a:ext uri="{FF2B5EF4-FFF2-40B4-BE49-F238E27FC236}">
                <a16:creationId xmlns:a16="http://schemas.microsoft.com/office/drawing/2014/main" id="{6C54EE7D-84BC-6EDE-8471-7F2C5343D036}"/>
              </a:ext>
            </a:extLst>
          </p:cNvPr>
          <p:cNvSpPr>
            <a:spLocks noGrp="1"/>
          </p:cNvSpPr>
          <p:nvPr>
            <p:ph type="sldNum" sz="quarter" idx="12"/>
          </p:nvPr>
        </p:nvSpPr>
        <p:spPr>
          <a:xfrm>
            <a:off x="9298858" y="6542036"/>
            <a:ext cx="2743200" cy="365125"/>
          </a:xfrm>
        </p:spPr>
        <p:txBody>
          <a:bodyPr/>
          <a:lstStyle/>
          <a:p>
            <a:fld id="{4E3936FF-9C8C-4CFF-8FF1-ABF36B4C597A}" type="slidenum">
              <a:rPr lang="en-IN" smtClean="0"/>
              <a:t>17</a:t>
            </a:fld>
            <a:endParaRPr lang="en-IN" dirty="0"/>
          </a:p>
        </p:txBody>
      </p:sp>
    </p:spTree>
    <p:extLst>
      <p:ext uri="{BB962C8B-B14F-4D97-AF65-F5344CB8AC3E}">
        <p14:creationId xmlns:p14="http://schemas.microsoft.com/office/powerpoint/2010/main" val="2873894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9282E-8C26-5A95-1239-B387A2D3EEE5}"/>
              </a:ext>
            </a:extLst>
          </p:cNvPr>
          <p:cNvSpPr>
            <a:spLocks noGrp="1"/>
          </p:cNvSpPr>
          <p:nvPr>
            <p:ph type="title"/>
          </p:nvPr>
        </p:nvSpPr>
        <p:spPr>
          <a:xfrm>
            <a:off x="2625212" y="365125"/>
            <a:ext cx="3972233" cy="1325563"/>
          </a:xfrm>
        </p:spPr>
        <p:txBody>
          <a:bodyPr>
            <a:normAutofit/>
          </a:bodyPr>
          <a:lstStyle/>
          <a:p>
            <a:r>
              <a:rPr lang="en-US" sz="3600" b="1" dirty="0"/>
              <a:t>Recommendations</a:t>
            </a:r>
            <a:endParaRPr lang="en-IN" sz="3600" b="1" dirty="0"/>
          </a:p>
        </p:txBody>
      </p:sp>
      <p:sp>
        <p:nvSpPr>
          <p:cNvPr id="3" name="Content Placeholder 2">
            <a:extLst>
              <a:ext uri="{FF2B5EF4-FFF2-40B4-BE49-F238E27FC236}">
                <a16:creationId xmlns:a16="http://schemas.microsoft.com/office/drawing/2014/main" id="{01BE352E-5E0D-FB5C-843F-1389E9B03CAD}"/>
              </a:ext>
            </a:extLst>
          </p:cNvPr>
          <p:cNvSpPr>
            <a:spLocks noGrp="1"/>
          </p:cNvSpPr>
          <p:nvPr>
            <p:ph idx="1"/>
          </p:nvPr>
        </p:nvSpPr>
        <p:spPr>
          <a:xfrm>
            <a:off x="2536722" y="1504335"/>
            <a:ext cx="8817077" cy="4454013"/>
          </a:xfrm>
        </p:spPr>
        <p:txBody>
          <a:bodyPr>
            <a:noAutofit/>
          </a:bodyPr>
          <a:lstStyle/>
          <a:p>
            <a:r>
              <a:rPr lang="en-GB" sz="2000" dirty="0">
                <a:cs typeface="Poppins" panose="020B0604020202020204" charset="0"/>
              </a:rPr>
              <a:t>Seasonal Promotions: Launch recovery campaigns in April and amplify January offers to smooth revenue swings.</a:t>
            </a:r>
          </a:p>
          <a:p>
            <a:endParaRPr lang="en-GB" sz="2000" dirty="0">
              <a:cs typeface="Poppins" panose="020B0604020202020204" charset="0"/>
            </a:endParaRPr>
          </a:p>
          <a:p>
            <a:r>
              <a:rPr lang="en-GB" sz="2000" dirty="0">
                <a:cs typeface="Poppins" panose="020B0604020202020204" charset="0"/>
              </a:rPr>
              <a:t>SKU Optimization: Double down on top products 26 &amp; 25 and re-evaluate pricing or phase out low‑margin SKUs.</a:t>
            </a:r>
          </a:p>
          <a:p>
            <a:endParaRPr lang="en-GB" sz="2000" dirty="0">
              <a:cs typeface="Poppins" panose="020B0604020202020204" charset="0"/>
            </a:endParaRPr>
          </a:p>
          <a:p>
            <a:r>
              <a:rPr lang="en-GB" sz="2000" dirty="0">
                <a:cs typeface="Poppins" panose="020B0604020202020204" charset="0"/>
              </a:rPr>
              <a:t>Channel Expansion: Incentivize Export partnerships for high margins and introduce volume deals in Wholesale.</a:t>
            </a:r>
          </a:p>
          <a:p>
            <a:endParaRPr lang="en-GB" sz="2000" dirty="0">
              <a:cs typeface="Poppins" panose="020B0604020202020204" charset="0"/>
            </a:endParaRPr>
          </a:p>
          <a:p>
            <a:r>
              <a:rPr lang="en-GB" sz="2000" dirty="0">
                <a:cs typeface="Poppins" panose="020B0604020202020204" charset="0"/>
              </a:rPr>
              <a:t>Regional Investment: Replicate California’s success in other regions and boost marketing in the Northeast &amp; Midwest.</a:t>
            </a:r>
          </a:p>
          <a:p>
            <a:endParaRPr lang="en-GB" sz="2000" dirty="0">
              <a:cs typeface="Poppins" panose="020B0604020202020204" charset="0"/>
            </a:endParaRPr>
          </a:p>
          <a:p>
            <a:r>
              <a:rPr lang="en-GB" sz="2000" dirty="0">
                <a:cs typeface="Poppins" panose="020B0604020202020204" charset="0"/>
              </a:rPr>
              <a:t>Margin Monitoring: Flag orders below 80 % margin and analyse cost drivers to uplift underperforming segments.</a:t>
            </a:r>
            <a:endParaRPr lang="en-IN" sz="2000" dirty="0">
              <a:cs typeface="Poppins" panose="020B0604020202020204" charset="0"/>
            </a:endParaRPr>
          </a:p>
          <a:p>
            <a:endParaRPr lang="en-IN" sz="2000" dirty="0"/>
          </a:p>
        </p:txBody>
      </p:sp>
      <p:sp>
        <p:nvSpPr>
          <p:cNvPr id="4" name="Rectangle 3">
            <a:extLst>
              <a:ext uri="{FF2B5EF4-FFF2-40B4-BE49-F238E27FC236}">
                <a16:creationId xmlns:a16="http://schemas.microsoft.com/office/drawing/2014/main" id="{96508616-8138-9869-EECE-F31165244D6C}"/>
              </a:ext>
            </a:extLst>
          </p:cNvPr>
          <p:cNvSpPr/>
          <p:nvPr/>
        </p:nvSpPr>
        <p:spPr>
          <a:xfrm>
            <a:off x="0" y="0"/>
            <a:ext cx="2054942" cy="68580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lide Number Placeholder 7">
            <a:extLst>
              <a:ext uri="{FF2B5EF4-FFF2-40B4-BE49-F238E27FC236}">
                <a16:creationId xmlns:a16="http://schemas.microsoft.com/office/drawing/2014/main" id="{1CDA44D2-C4C5-5E67-39E2-E32F0E2BA844}"/>
              </a:ext>
            </a:extLst>
          </p:cNvPr>
          <p:cNvSpPr>
            <a:spLocks noGrp="1"/>
          </p:cNvSpPr>
          <p:nvPr>
            <p:ph type="sldNum" sz="quarter" idx="12"/>
          </p:nvPr>
        </p:nvSpPr>
        <p:spPr>
          <a:xfrm>
            <a:off x="9348019" y="6492875"/>
            <a:ext cx="2743200" cy="365125"/>
          </a:xfrm>
        </p:spPr>
        <p:txBody>
          <a:bodyPr/>
          <a:lstStyle/>
          <a:p>
            <a:fld id="{4E3936FF-9C8C-4CFF-8FF1-ABF36B4C597A}" type="slidenum">
              <a:rPr lang="en-IN" smtClean="0"/>
              <a:t>18</a:t>
            </a:fld>
            <a:endParaRPr lang="en-IN"/>
          </a:p>
        </p:txBody>
      </p:sp>
    </p:spTree>
    <p:extLst>
      <p:ext uri="{BB962C8B-B14F-4D97-AF65-F5344CB8AC3E}">
        <p14:creationId xmlns:p14="http://schemas.microsoft.com/office/powerpoint/2010/main" val="538662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7251CE-492C-A87A-7C88-643133E6F1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07161"/>
          </a:xfrm>
          <a:prstGeom prst="rect">
            <a:avLst/>
          </a:prstGeom>
        </p:spPr>
      </p:pic>
      <p:sp>
        <p:nvSpPr>
          <p:cNvPr id="4" name="TextBox 3">
            <a:extLst>
              <a:ext uri="{FF2B5EF4-FFF2-40B4-BE49-F238E27FC236}">
                <a16:creationId xmlns:a16="http://schemas.microsoft.com/office/drawing/2014/main" id="{EB456CA7-31B3-B3D4-BAE6-9CE80D19CC33}"/>
              </a:ext>
            </a:extLst>
          </p:cNvPr>
          <p:cNvSpPr txBox="1"/>
          <p:nvPr/>
        </p:nvSpPr>
        <p:spPr>
          <a:xfrm>
            <a:off x="1740309" y="2576051"/>
            <a:ext cx="6597446" cy="923330"/>
          </a:xfrm>
          <a:prstGeom prst="rect">
            <a:avLst/>
          </a:prstGeom>
          <a:noFill/>
        </p:spPr>
        <p:txBody>
          <a:bodyPr wrap="square" rtlCol="0">
            <a:spAutoFit/>
          </a:bodyPr>
          <a:lstStyle/>
          <a:p>
            <a:r>
              <a:rPr lang="en-US" sz="5400" b="1" dirty="0"/>
              <a:t>Dashboard Preview</a:t>
            </a:r>
            <a:endParaRPr lang="en-IN" sz="5400" b="1" dirty="0"/>
          </a:p>
        </p:txBody>
      </p:sp>
      <p:sp>
        <p:nvSpPr>
          <p:cNvPr id="7" name="Slide Number Placeholder 6">
            <a:extLst>
              <a:ext uri="{FF2B5EF4-FFF2-40B4-BE49-F238E27FC236}">
                <a16:creationId xmlns:a16="http://schemas.microsoft.com/office/drawing/2014/main" id="{1043AAF3-D81D-BA96-0880-7356B6B49D00}"/>
              </a:ext>
            </a:extLst>
          </p:cNvPr>
          <p:cNvSpPr>
            <a:spLocks noGrp="1"/>
          </p:cNvSpPr>
          <p:nvPr>
            <p:ph type="sldNum" sz="quarter" idx="12"/>
          </p:nvPr>
        </p:nvSpPr>
        <p:spPr>
          <a:xfrm>
            <a:off x="9338187" y="6542036"/>
            <a:ext cx="2743200" cy="365125"/>
          </a:xfrm>
        </p:spPr>
        <p:txBody>
          <a:bodyPr/>
          <a:lstStyle/>
          <a:p>
            <a:fld id="{4E3936FF-9C8C-4CFF-8FF1-ABF36B4C597A}" type="slidenum">
              <a:rPr lang="en-IN" smtClean="0"/>
              <a:t>19</a:t>
            </a:fld>
            <a:endParaRPr lang="en-IN" dirty="0"/>
          </a:p>
        </p:txBody>
      </p:sp>
    </p:spTree>
    <p:extLst>
      <p:ext uri="{BB962C8B-B14F-4D97-AF65-F5344CB8AC3E}">
        <p14:creationId xmlns:p14="http://schemas.microsoft.com/office/powerpoint/2010/main" val="35176628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7A9F3-167E-3C7D-891E-3D3AD7C4CECA}"/>
              </a:ext>
            </a:extLst>
          </p:cNvPr>
          <p:cNvSpPr>
            <a:spLocks noGrp="1"/>
          </p:cNvSpPr>
          <p:nvPr>
            <p:ph type="title"/>
          </p:nvPr>
        </p:nvSpPr>
        <p:spPr>
          <a:xfrm>
            <a:off x="196646" y="197977"/>
            <a:ext cx="9770806" cy="736088"/>
          </a:xfrm>
        </p:spPr>
        <p:txBody>
          <a:bodyPr>
            <a:normAutofit/>
          </a:bodyPr>
          <a:lstStyle/>
          <a:p>
            <a:r>
              <a:rPr lang="en-US" sz="2800" b="1" dirty="0">
                <a:latin typeface="Aptos Display" panose="020B0004020202020204" pitchFamily="34" charset="0"/>
              </a:rPr>
              <a:t>Page 1 – Performance Summary </a:t>
            </a:r>
            <a:endParaRPr lang="en-IN" sz="2800" b="1" dirty="0">
              <a:latin typeface="Aptos Display" panose="020B0004020202020204" pitchFamily="34" charset="0"/>
            </a:endParaRPr>
          </a:p>
        </p:txBody>
      </p:sp>
      <p:pic>
        <p:nvPicPr>
          <p:cNvPr id="6" name="Picture 5">
            <a:extLst>
              <a:ext uri="{FF2B5EF4-FFF2-40B4-BE49-F238E27FC236}">
                <a16:creationId xmlns:a16="http://schemas.microsoft.com/office/drawing/2014/main" id="{16EA0914-7C34-A0A2-E4C6-D5B80D4570B9}"/>
              </a:ext>
            </a:extLst>
          </p:cNvPr>
          <p:cNvPicPr>
            <a:picLocks noChangeAspect="1"/>
          </p:cNvPicPr>
          <p:nvPr/>
        </p:nvPicPr>
        <p:blipFill>
          <a:blip r:embed="rId2"/>
          <a:stretch>
            <a:fillRect/>
          </a:stretch>
        </p:blipFill>
        <p:spPr>
          <a:xfrm>
            <a:off x="875071" y="934065"/>
            <a:ext cx="10471355" cy="5604387"/>
          </a:xfrm>
          <a:prstGeom prst="rect">
            <a:avLst/>
          </a:prstGeom>
        </p:spPr>
      </p:pic>
      <p:sp>
        <p:nvSpPr>
          <p:cNvPr id="7" name="Slide Number Placeholder 6">
            <a:extLst>
              <a:ext uri="{FF2B5EF4-FFF2-40B4-BE49-F238E27FC236}">
                <a16:creationId xmlns:a16="http://schemas.microsoft.com/office/drawing/2014/main" id="{BCE8CE4A-6C69-151C-B17B-FD1CCA6802CD}"/>
              </a:ext>
            </a:extLst>
          </p:cNvPr>
          <p:cNvSpPr>
            <a:spLocks noGrp="1"/>
          </p:cNvSpPr>
          <p:nvPr>
            <p:ph type="sldNum" sz="quarter" idx="12"/>
          </p:nvPr>
        </p:nvSpPr>
        <p:spPr>
          <a:xfrm>
            <a:off x="9377516" y="6538452"/>
            <a:ext cx="2743200" cy="365125"/>
          </a:xfrm>
        </p:spPr>
        <p:txBody>
          <a:bodyPr/>
          <a:lstStyle/>
          <a:p>
            <a:fld id="{4E3936FF-9C8C-4CFF-8FF1-ABF36B4C597A}" type="slidenum">
              <a:rPr lang="en-IN" smtClean="0"/>
              <a:t>20</a:t>
            </a:fld>
            <a:endParaRPr lang="en-IN"/>
          </a:p>
        </p:txBody>
      </p:sp>
    </p:spTree>
    <p:extLst>
      <p:ext uri="{BB962C8B-B14F-4D97-AF65-F5344CB8AC3E}">
        <p14:creationId xmlns:p14="http://schemas.microsoft.com/office/powerpoint/2010/main" val="149890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A39C2-0183-2762-4E3B-5BF240CFF3D4}"/>
              </a:ext>
            </a:extLst>
          </p:cNvPr>
          <p:cNvSpPr>
            <a:spLocks noGrp="1"/>
          </p:cNvSpPr>
          <p:nvPr>
            <p:ph type="title"/>
          </p:nvPr>
        </p:nvSpPr>
        <p:spPr>
          <a:xfrm>
            <a:off x="385916" y="207810"/>
            <a:ext cx="10515600" cy="814746"/>
          </a:xfrm>
        </p:spPr>
        <p:txBody>
          <a:bodyPr>
            <a:normAutofit/>
          </a:bodyPr>
          <a:lstStyle/>
          <a:p>
            <a:r>
              <a:rPr lang="en-US" sz="2800" b="1" dirty="0"/>
              <a:t>Page 2 – Customer Segmentation</a:t>
            </a:r>
            <a:endParaRPr lang="en-IN" sz="2800" b="1" dirty="0"/>
          </a:p>
        </p:txBody>
      </p:sp>
      <p:pic>
        <p:nvPicPr>
          <p:cNvPr id="4" name="Picture 3">
            <a:extLst>
              <a:ext uri="{FF2B5EF4-FFF2-40B4-BE49-F238E27FC236}">
                <a16:creationId xmlns:a16="http://schemas.microsoft.com/office/drawing/2014/main" id="{534C0ABD-A58E-8F20-1B02-1860D037289E}"/>
              </a:ext>
            </a:extLst>
          </p:cNvPr>
          <p:cNvPicPr>
            <a:picLocks noChangeAspect="1"/>
          </p:cNvPicPr>
          <p:nvPr/>
        </p:nvPicPr>
        <p:blipFill>
          <a:blip r:embed="rId2"/>
          <a:stretch>
            <a:fillRect/>
          </a:stretch>
        </p:blipFill>
        <p:spPr>
          <a:xfrm>
            <a:off x="1071716" y="1022556"/>
            <a:ext cx="10245213" cy="5407741"/>
          </a:xfrm>
          <a:prstGeom prst="rect">
            <a:avLst/>
          </a:prstGeom>
        </p:spPr>
      </p:pic>
      <p:sp>
        <p:nvSpPr>
          <p:cNvPr id="7" name="Slide Number Placeholder 6">
            <a:extLst>
              <a:ext uri="{FF2B5EF4-FFF2-40B4-BE49-F238E27FC236}">
                <a16:creationId xmlns:a16="http://schemas.microsoft.com/office/drawing/2014/main" id="{95569C66-2A65-9F9C-AD86-A327C0B6A57A}"/>
              </a:ext>
            </a:extLst>
          </p:cNvPr>
          <p:cNvSpPr>
            <a:spLocks noGrp="1"/>
          </p:cNvSpPr>
          <p:nvPr>
            <p:ph type="sldNum" sz="quarter" idx="12"/>
          </p:nvPr>
        </p:nvSpPr>
        <p:spPr>
          <a:xfrm>
            <a:off x="9338187" y="6492875"/>
            <a:ext cx="2743200" cy="365125"/>
          </a:xfrm>
        </p:spPr>
        <p:txBody>
          <a:bodyPr/>
          <a:lstStyle/>
          <a:p>
            <a:fld id="{4E3936FF-9C8C-4CFF-8FF1-ABF36B4C597A}" type="slidenum">
              <a:rPr lang="en-IN" smtClean="0"/>
              <a:t>21</a:t>
            </a:fld>
            <a:endParaRPr lang="en-IN" dirty="0"/>
          </a:p>
        </p:txBody>
      </p:sp>
    </p:spTree>
    <p:extLst>
      <p:ext uri="{BB962C8B-B14F-4D97-AF65-F5344CB8AC3E}">
        <p14:creationId xmlns:p14="http://schemas.microsoft.com/office/powerpoint/2010/main" val="3929626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81B84-0A53-A048-0980-BEC477C36223}"/>
              </a:ext>
            </a:extLst>
          </p:cNvPr>
          <p:cNvSpPr>
            <a:spLocks noGrp="1"/>
          </p:cNvSpPr>
          <p:nvPr>
            <p:ph type="title"/>
          </p:nvPr>
        </p:nvSpPr>
        <p:spPr>
          <a:xfrm>
            <a:off x="248265" y="217641"/>
            <a:ext cx="10515600" cy="765585"/>
          </a:xfrm>
        </p:spPr>
        <p:txBody>
          <a:bodyPr>
            <a:normAutofit/>
          </a:bodyPr>
          <a:lstStyle/>
          <a:p>
            <a:r>
              <a:rPr lang="en-US" sz="2800" b="1" dirty="0">
                <a:latin typeface="Aptos Display" panose="020B0004020202020204" pitchFamily="34" charset="0"/>
              </a:rPr>
              <a:t>Page 3 –  Revenue Scenarios</a:t>
            </a:r>
            <a:endParaRPr lang="en-IN" sz="2800" dirty="0"/>
          </a:p>
        </p:txBody>
      </p:sp>
      <p:pic>
        <p:nvPicPr>
          <p:cNvPr id="10" name="Picture 9">
            <a:extLst>
              <a:ext uri="{FF2B5EF4-FFF2-40B4-BE49-F238E27FC236}">
                <a16:creationId xmlns:a16="http://schemas.microsoft.com/office/drawing/2014/main" id="{79161A35-B803-4516-0C73-99FE3FE6ACF3}"/>
              </a:ext>
            </a:extLst>
          </p:cNvPr>
          <p:cNvPicPr>
            <a:picLocks noChangeAspect="1"/>
          </p:cNvPicPr>
          <p:nvPr/>
        </p:nvPicPr>
        <p:blipFill>
          <a:blip r:embed="rId2"/>
          <a:stretch>
            <a:fillRect/>
          </a:stretch>
        </p:blipFill>
        <p:spPr>
          <a:xfrm>
            <a:off x="936532" y="983226"/>
            <a:ext cx="10144424" cy="5497848"/>
          </a:xfrm>
          <a:prstGeom prst="rect">
            <a:avLst/>
          </a:prstGeom>
        </p:spPr>
      </p:pic>
      <p:sp>
        <p:nvSpPr>
          <p:cNvPr id="6" name="Slide Number Placeholder 5">
            <a:extLst>
              <a:ext uri="{FF2B5EF4-FFF2-40B4-BE49-F238E27FC236}">
                <a16:creationId xmlns:a16="http://schemas.microsoft.com/office/drawing/2014/main" id="{56849C5B-1FE3-2A9B-BCF6-FF40E83255AC}"/>
              </a:ext>
            </a:extLst>
          </p:cNvPr>
          <p:cNvSpPr>
            <a:spLocks noGrp="1"/>
          </p:cNvSpPr>
          <p:nvPr>
            <p:ph type="sldNum" sz="quarter" idx="12"/>
          </p:nvPr>
        </p:nvSpPr>
        <p:spPr>
          <a:xfrm>
            <a:off x="9264445" y="6481074"/>
            <a:ext cx="2743200" cy="365125"/>
          </a:xfrm>
        </p:spPr>
        <p:txBody>
          <a:bodyPr/>
          <a:lstStyle/>
          <a:p>
            <a:fld id="{4E3936FF-9C8C-4CFF-8FF1-ABF36B4C597A}" type="slidenum">
              <a:rPr lang="en-IN" smtClean="0"/>
              <a:t>22</a:t>
            </a:fld>
            <a:endParaRPr lang="en-IN" dirty="0"/>
          </a:p>
        </p:txBody>
      </p:sp>
    </p:spTree>
    <p:extLst>
      <p:ext uri="{BB962C8B-B14F-4D97-AF65-F5344CB8AC3E}">
        <p14:creationId xmlns:p14="http://schemas.microsoft.com/office/powerpoint/2010/main" val="1365392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2640-F976-BBD0-C38F-3FF5E7CF6D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E0FFC90-4690-E441-1BFF-06BCACF6B1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07161"/>
          </a:xfrm>
          <a:prstGeom prst="rect">
            <a:avLst/>
          </a:prstGeom>
        </p:spPr>
      </p:pic>
      <p:sp>
        <p:nvSpPr>
          <p:cNvPr id="4" name="TextBox 3">
            <a:extLst>
              <a:ext uri="{FF2B5EF4-FFF2-40B4-BE49-F238E27FC236}">
                <a16:creationId xmlns:a16="http://schemas.microsoft.com/office/drawing/2014/main" id="{481F74BA-F3E7-995A-D5B6-5105267F8334}"/>
              </a:ext>
            </a:extLst>
          </p:cNvPr>
          <p:cNvSpPr txBox="1"/>
          <p:nvPr/>
        </p:nvSpPr>
        <p:spPr>
          <a:xfrm>
            <a:off x="1740309" y="2576051"/>
            <a:ext cx="6597446" cy="923330"/>
          </a:xfrm>
          <a:prstGeom prst="rect">
            <a:avLst/>
          </a:prstGeom>
          <a:noFill/>
        </p:spPr>
        <p:txBody>
          <a:bodyPr wrap="square" rtlCol="0">
            <a:spAutoFit/>
          </a:bodyPr>
          <a:lstStyle/>
          <a:p>
            <a:r>
              <a:rPr lang="en-US" sz="5400" b="1" dirty="0"/>
              <a:t>Conclusion</a:t>
            </a:r>
            <a:endParaRPr lang="en-IN" sz="5400" b="1" dirty="0"/>
          </a:p>
        </p:txBody>
      </p:sp>
      <p:sp>
        <p:nvSpPr>
          <p:cNvPr id="7" name="Slide Number Placeholder 6">
            <a:extLst>
              <a:ext uri="{FF2B5EF4-FFF2-40B4-BE49-F238E27FC236}">
                <a16:creationId xmlns:a16="http://schemas.microsoft.com/office/drawing/2014/main" id="{C364EA7D-51F5-A8FE-B3EB-C6A517C5B9D6}"/>
              </a:ext>
            </a:extLst>
          </p:cNvPr>
          <p:cNvSpPr>
            <a:spLocks noGrp="1"/>
          </p:cNvSpPr>
          <p:nvPr>
            <p:ph type="sldNum" sz="quarter" idx="12"/>
          </p:nvPr>
        </p:nvSpPr>
        <p:spPr>
          <a:xfrm>
            <a:off x="9318523" y="6542036"/>
            <a:ext cx="2743200" cy="365125"/>
          </a:xfrm>
        </p:spPr>
        <p:txBody>
          <a:bodyPr/>
          <a:lstStyle/>
          <a:p>
            <a:fld id="{4E3936FF-9C8C-4CFF-8FF1-ABF36B4C597A}" type="slidenum">
              <a:rPr lang="en-IN" smtClean="0"/>
              <a:t>23</a:t>
            </a:fld>
            <a:endParaRPr lang="en-IN" dirty="0"/>
          </a:p>
        </p:txBody>
      </p:sp>
    </p:spTree>
    <p:extLst>
      <p:ext uri="{BB962C8B-B14F-4D97-AF65-F5344CB8AC3E}">
        <p14:creationId xmlns:p14="http://schemas.microsoft.com/office/powerpoint/2010/main" val="3947019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DC502-2D87-CD07-880B-840E1449B47A}"/>
              </a:ext>
            </a:extLst>
          </p:cNvPr>
          <p:cNvSpPr>
            <a:spLocks noGrp="1"/>
          </p:cNvSpPr>
          <p:nvPr>
            <p:ph type="title"/>
          </p:nvPr>
        </p:nvSpPr>
        <p:spPr>
          <a:xfrm>
            <a:off x="2821858" y="365125"/>
            <a:ext cx="3952568" cy="686927"/>
          </a:xfrm>
        </p:spPr>
        <p:txBody>
          <a:bodyPr>
            <a:noAutofit/>
          </a:bodyPr>
          <a:lstStyle/>
          <a:p>
            <a:r>
              <a:rPr lang="en-US" b="1" dirty="0"/>
              <a:t>Conclusions</a:t>
            </a:r>
            <a:endParaRPr lang="en-IN" b="1" dirty="0"/>
          </a:p>
        </p:txBody>
      </p:sp>
      <p:sp>
        <p:nvSpPr>
          <p:cNvPr id="3" name="Content Placeholder 2">
            <a:extLst>
              <a:ext uri="{FF2B5EF4-FFF2-40B4-BE49-F238E27FC236}">
                <a16:creationId xmlns:a16="http://schemas.microsoft.com/office/drawing/2014/main" id="{726D0F8E-D455-A24D-73D2-9A5A2E1F5205}"/>
              </a:ext>
            </a:extLst>
          </p:cNvPr>
          <p:cNvSpPr>
            <a:spLocks noGrp="1"/>
          </p:cNvSpPr>
          <p:nvPr>
            <p:ph idx="1"/>
          </p:nvPr>
        </p:nvSpPr>
        <p:spPr>
          <a:xfrm>
            <a:off x="2733368" y="1825625"/>
            <a:ext cx="8620432" cy="3532956"/>
          </a:xfrm>
        </p:spPr>
        <p:txBody>
          <a:bodyPr>
            <a:normAutofit/>
          </a:bodyPr>
          <a:lstStyle/>
          <a:p>
            <a:pPr marL="0" indent="0">
              <a:buNone/>
            </a:pPr>
            <a:r>
              <a:rPr lang="en-US" sz="2400" dirty="0"/>
              <a:t>The analysis shows that overall sales performance is stable, with revenue primarily driven by pricing rather than volume. Business performance is concentrated among key products, customers, and regions, while profit margins remain consistent across segments. These insights highlight opportunities to improve growth by expanding underperforming areas and reducing dependency on top contributors.</a:t>
            </a:r>
            <a:endParaRPr lang="en-IN" sz="2400" dirty="0"/>
          </a:p>
        </p:txBody>
      </p:sp>
      <p:sp>
        <p:nvSpPr>
          <p:cNvPr id="4" name="Rectangle 3">
            <a:extLst>
              <a:ext uri="{FF2B5EF4-FFF2-40B4-BE49-F238E27FC236}">
                <a16:creationId xmlns:a16="http://schemas.microsoft.com/office/drawing/2014/main" id="{547E746A-95FC-A5BE-AD58-04A6D5E5CBF0}"/>
              </a:ext>
            </a:extLst>
          </p:cNvPr>
          <p:cNvSpPr/>
          <p:nvPr/>
        </p:nvSpPr>
        <p:spPr>
          <a:xfrm>
            <a:off x="0" y="0"/>
            <a:ext cx="2054942" cy="6858000"/>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lide Number Placeholder 7">
            <a:extLst>
              <a:ext uri="{FF2B5EF4-FFF2-40B4-BE49-F238E27FC236}">
                <a16:creationId xmlns:a16="http://schemas.microsoft.com/office/drawing/2014/main" id="{93B85105-B969-0897-D2E4-8DD2AA597777}"/>
              </a:ext>
            </a:extLst>
          </p:cNvPr>
          <p:cNvSpPr>
            <a:spLocks noGrp="1"/>
          </p:cNvSpPr>
          <p:nvPr>
            <p:ph type="sldNum" sz="quarter" idx="12"/>
          </p:nvPr>
        </p:nvSpPr>
        <p:spPr>
          <a:xfrm>
            <a:off x="9311149" y="6492875"/>
            <a:ext cx="2743200" cy="365125"/>
          </a:xfrm>
        </p:spPr>
        <p:txBody>
          <a:bodyPr/>
          <a:lstStyle/>
          <a:p>
            <a:fld id="{4E3936FF-9C8C-4CFF-8FF1-ABF36B4C597A}" type="slidenum">
              <a:rPr lang="en-IN" smtClean="0"/>
              <a:t>24</a:t>
            </a:fld>
            <a:endParaRPr lang="en-IN" dirty="0"/>
          </a:p>
        </p:txBody>
      </p:sp>
    </p:spTree>
    <p:extLst>
      <p:ext uri="{BB962C8B-B14F-4D97-AF65-F5344CB8AC3E}">
        <p14:creationId xmlns:p14="http://schemas.microsoft.com/office/powerpoint/2010/main" val="3240530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6E6A0-0E6F-4053-6A7E-95B02C6B7E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C013CE-89C4-19F4-F662-B96527ABE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07161"/>
          </a:xfrm>
          <a:prstGeom prst="rect">
            <a:avLst/>
          </a:prstGeom>
        </p:spPr>
      </p:pic>
      <p:sp>
        <p:nvSpPr>
          <p:cNvPr id="6" name="TextBox 5">
            <a:extLst>
              <a:ext uri="{FF2B5EF4-FFF2-40B4-BE49-F238E27FC236}">
                <a16:creationId xmlns:a16="http://schemas.microsoft.com/office/drawing/2014/main" id="{EC2AD511-EEEC-FDF2-E48B-0462A1F51B36}"/>
              </a:ext>
            </a:extLst>
          </p:cNvPr>
          <p:cNvSpPr txBox="1"/>
          <p:nvPr/>
        </p:nvSpPr>
        <p:spPr>
          <a:xfrm>
            <a:off x="2585884" y="2271252"/>
            <a:ext cx="8101780" cy="1323439"/>
          </a:xfrm>
          <a:prstGeom prst="rect">
            <a:avLst/>
          </a:prstGeom>
          <a:noFill/>
        </p:spPr>
        <p:txBody>
          <a:bodyPr wrap="square" rtlCol="0">
            <a:spAutoFit/>
          </a:bodyPr>
          <a:lstStyle/>
          <a:p>
            <a:r>
              <a:rPr lang="en-US" sz="8000" b="1" dirty="0">
                <a:latin typeface="Arial" panose="020B0604020202020204" pitchFamily="34" charset="0"/>
                <a:cs typeface="Arial" panose="020B0604020202020204" pitchFamily="34" charset="0"/>
              </a:rPr>
              <a:t>Thank you !      </a:t>
            </a:r>
            <a:endParaRPr lang="en-IN" sz="8000"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6F1837BC-E14E-DB8D-D79D-E6CD08BBE093}"/>
              </a:ext>
            </a:extLst>
          </p:cNvPr>
          <p:cNvPicPr>
            <a:picLocks noChangeAspect="1"/>
          </p:cNvPicPr>
          <p:nvPr/>
        </p:nvPicPr>
        <p:blipFill>
          <a:blip r:embed="rId3"/>
          <a:stretch>
            <a:fillRect/>
          </a:stretch>
        </p:blipFill>
        <p:spPr>
          <a:xfrm>
            <a:off x="4605799" y="3594691"/>
            <a:ext cx="1800529" cy="1394282"/>
          </a:xfrm>
          <a:prstGeom prst="rect">
            <a:avLst/>
          </a:prstGeom>
        </p:spPr>
      </p:pic>
      <p:sp>
        <p:nvSpPr>
          <p:cNvPr id="12" name="Slide Number Placeholder 11">
            <a:extLst>
              <a:ext uri="{FF2B5EF4-FFF2-40B4-BE49-F238E27FC236}">
                <a16:creationId xmlns:a16="http://schemas.microsoft.com/office/drawing/2014/main" id="{F0F95FEB-A419-A241-9216-352E57712B71}"/>
              </a:ext>
            </a:extLst>
          </p:cNvPr>
          <p:cNvSpPr>
            <a:spLocks noGrp="1"/>
          </p:cNvSpPr>
          <p:nvPr>
            <p:ph type="sldNum" sz="quarter" idx="12"/>
          </p:nvPr>
        </p:nvSpPr>
        <p:spPr>
          <a:xfrm>
            <a:off x="9316064" y="6492875"/>
            <a:ext cx="2743200" cy="365125"/>
          </a:xfrm>
        </p:spPr>
        <p:txBody>
          <a:bodyPr/>
          <a:lstStyle/>
          <a:p>
            <a:fld id="{4E3936FF-9C8C-4CFF-8FF1-ABF36B4C597A}" type="slidenum">
              <a:rPr lang="en-IN" smtClean="0"/>
              <a:t>25</a:t>
            </a:fld>
            <a:endParaRPr lang="en-IN" dirty="0"/>
          </a:p>
        </p:txBody>
      </p:sp>
    </p:spTree>
    <p:extLst>
      <p:ext uri="{BB962C8B-B14F-4D97-AF65-F5344CB8AC3E}">
        <p14:creationId xmlns:p14="http://schemas.microsoft.com/office/powerpoint/2010/main" val="244370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400</TotalTime>
  <Words>916</Words>
  <Application>Microsoft Office PowerPoint</Application>
  <PresentationFormat>Widescreen</PresentationFormat>
  <Paragraphs>136</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MV Boli</vt:lpstr>
      <vt:lpstr>Poppins</vt:lpstr>
      <vt:lpstr>Office Theme</vt:lpstr>
      <vt:lpstr>PowerPoint Presentation</vt:lpstr>
      <vt:lpstr>PowerPoint Presentation</vt:lpstr>
      <vt:lpstr>PowerPoint Presentation</vt:lpstr>
      <vt:lpstr>Monthly Sales Trend Over Time</vt:lpstr>
      <vt:lpstr>Top 10 Products by Revenue</vt:lpstr>
      <vt:lpstr>Top 10 Products by Average Profit Margin</vt:lpstr>
      <vt:lpstr>Total Sales by Channel</vt:lpstr>
      <vt:lpstr>Total Sales by State (Choropleth Map)</vt:lpstr>
      <vt:lpstr>Total Sales by US Region</vt:lpstr>
      <vt:lpstr>Average Order Value (AOV) Distribution</vt:lpstr>
      <vt:lpstr>Top State Performance : Revenue vs. Orders</vt:lpstr>
      <vt:lpstr>Top and Bottom 10 Customers by Revenue</vt:lpstr>
      <vt:lpstr>Customer Segmentation: Revenue vs. Profit Margin</vt:lpstr>
      <vt:lpstr>Correlation  Heatmap of Numeric </vt:lpstr>
      <vt:lpstr>PowerPoint Presentation</vt:lpstr>
      <vt:lpstr>Key Insights</vt:lpstr>
      <vt:lpstr>PowerPoint Presentation</vt:lpstr>
      <vt:lpstr>Recommendations</vt:lpstr>
      <vt:lpstr>PowerPoint Presentation</vt:lpstr>
      <vt:lpstr>Page 1 – Performance Summary </vt:lpstr>
      <vt:lpstr>Page 2 – Customer Segmentation</vt:lpstr>
      <vt:lpstr>Page 3 –  Revenue Scenarios</vt:lpstr>
      <vt:lpstr>PowerPoint Presentation</vt:lpstr>
      <vt:lpstr>Conclusions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lakshay arora</dc:creator>
  <cp:lastModifiedBy>lakshay arora</cp:lastModifiedBy>
  <cp:revision>2</cp:revision>
  <dcterms:created xsi:type="dcterms:W3CDTF">2026-04-05T15:04:17Z</dcterms:created>
  <dcterms:modified xsi:type="dcterms:W3CDTF">2026-04-11T15:49:21Z</dcterms:modified>
</cp:coreProperties>
</file>